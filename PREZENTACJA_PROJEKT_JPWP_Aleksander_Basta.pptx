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</p:sldMasterIdLst>
  <p:notesMasterIdLst>
    <p:notesMasterId r:id="rId36"/>
  </p:notesMasterIdLst>
  <p:sldIdLst>
    <p:sldId id="256" r:id="rId5"/>
    <p:sldId id="262" r:id="rId6"/>
    <p:sldId id="257" r:id="rId7"/>
    <p:sldId id="258" r:id="rId8"/>
    <p:sldId id="261" r:id="rId9"/>
    <p:sldId id="268" r:id="rId10"/>
    <p:sldId id="283" r:id="rId11"/>
    <p:sldId id="269" r:id="rId12"/>
    <p:sldId id="284" r:id="rId13"/>
    <p:sldId id="260" r:id="rId14"/>
    <p:sldId id="285" r:id="rId15"/>
    <p:sldId id="270" r:id="rId16"/>
    <p:sldId id="271" r:id="rId17"/>
    <p:sldId id="272" r:id="rId18"/>
    <p:sldId id="273" r:id="rId19"/>
    <p:sldId id="286" r:id="rId20"/>
    <p:sldId id="266" r:id="rId21"/>
    <p:sldId id="274" r:id="rId22"/>
    <p:sldId id="275" r:id="rId23"/>
    <p:sldId id="276" r:id="rId24"/>
    <p:sldId id="291" r:id="rId25"/>
    <p:sldId id="277" r:id="rId26"/>
    <p:sldId id="281" r:id="rId27"/>
    <p:sldId id="278" r:id="rId28"/>
    <p:sldId id="279" r:id="rId29"/>
    <p:sldId id="280" r:id="rId30"/>
    <p:sldId id="287" r:id="rId31"/>
    <p:sldId id="288" r:id="rId32"/>
    <p:sldId id="289" r:id="rId33"/>
    <p:sldId id="290" r:id="rId34"/>
    <p:sldId id="282" r:id="rId3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05" autoAdjust="0"/>
    <p:restoredTop sz="94660"/>
  </p:normalViewPr>
  <p:slideViewPr>
    <p:cSldViewPr snapToGrid="0">
      <p:cViewPr varScale="1">
        <p:scale>
          <a:sx n="65" d="100"/>
          <a:sy n="65" d="100"/>
        </p:scale>
        <p:origin x="57" y="5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D889D-7D88-4925-B431-57CB7B2AE6FB}" type="datetimeFigureOut">
              <a:rPr lang="pl-PL" smtClean="0"/>
              <a:t>15.05.2025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88B4-22FA-4E0B-8F25-41AC77336C1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766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9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1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withmayank.hashnode.dev/history-and-evolution-of-data-structure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l.wikipedia.org/wiki/Struktura_danych" TargetMode="External"/><Relationship Id="rId4" Type="http://schemas.openxmlformats.org/officeDocument/2006/relationships/hyperlink" Target="https://appmaster.io/pl/blog/jakie-sa-definicje-i-typy-struktur-dany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843E6CBD-84F6-4F15-1FA7-30ACC6443F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9929"/>
          <a:stretch/>
        </p:blipFill>
        <p:spPr>
          <a:xfrm>
            <a:off x="-83129" y="0"/>
            <a:ext cx="12192001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248145BB-8FD1-B675-0CD0-B4DF544DF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200" dirty="0">
                <a:solidFill>
                  <a:srgbClr val="FFFFFF"/>
                </a:solidFill>
              </a:rPr>
              <a:t>ZAAWANSOWANE STRUKTURY DANCYH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4161FCE-690C-0ABC-70C6-F9A71FB2B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pl-PL" sz="2400" dirty="0">
                <a:solidFill>
                  <a:srgbClr val="FFFFFF"/>
                </a:solidFill>
              </a:rPr>
              <a:t>Mateusz Aleksander </a:t>
            </a:r>
            <a:br>
              <a:rPr lang="pl-PL" sz="24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Mateusz Basta</a:t>
            </a:r>
            <a:br>
              <a:rPr lang="pl-PL" sz="2400" dirty="0">
                <a:solidFill>
                  <a:srgbClr val="FFFFFF"/>
                </a:solidFill>
              </a:rPr>
            </a:br>
            <a:br>
              <a:rPr lang="pl-PL" sz="24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21.05.2025 8:00</a:t>
            </a: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7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BD6EB-FFDE-BD71-A564-959C622B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A73D52E5-192C-6ECA-51DC-738179F3C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55C61FFE-88E9-7DC5-8C32-56E0536FA0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9929"/>
          <a:stretch/>
        </p:blipFill>
        <p:spPr>
          <a:xfrm>
            <a:off x="134839" y="58479"/>
            <a:ext cx="12192001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585D431-BCF9-23C2-B55C-747A3591F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507" y="2327033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200" dirty="0">
                <a:solidFill>
                  <a:srgbClr val="FFFFFF"/>
                </a:solidFill>
              </a:rPr>
              <a:t>HISTORIA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CCF48E-84A6-CB7B-8CA8-BFF906C71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5324" y="3883304"/>
            <a:ext cx="5040785" cy="1724029"/>
          </a:xfrm>
        </p:spPr>
        <p:txBody>
          <a:bodyPr anchor="t">
            <a:normAutofit/>
          </a:bodyPr>
          <a:lstStyle/>
          <a:p>
            <a:r>
              <a:rPr lang="pl-PL" sz="2400" dirty="0">
                <a:solidFill>
                  <a:srgbClr val="FFFFFF"/>
                </a:solidFill>
              </a:rPr>
              <a:t>POCZĄTKI W LATACH 50</a:t>
            </a: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BC6541CE-3A0C-A449-A352-273626E0F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82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900D67-B242-FCB7-4385-8F6D6A37E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E603E65-DDFF-D7B8-506E-5FF69F756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9"/>
            <a:ext cx="6183639" cy="1078992"/>
          </a:xfrm>
        </p:spPr>
        <p:txBody>
          <a:bodyPr anchor="t">
            <a:normAutofit fontScale="90000"/>
          </a:bodyPr>
          <a:lstStyle/>
          <a:p>
            <a:r>
              <a:rPr lang="pl-PL" sz="6600" dirty="0"/>
              <a:t>Historia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83CDCBF-3EC7-420E-5D7E-CB02BBF78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1828800"/>
            <a:ext cx="11165479" cy="4374846"/>
          </a:xfrm>
        </p:spPr>
        <p:txBody>
          <a:bodyPr anchor="b">
            <a:normAutofit/>
          </a:bodyPr>
          <a:lstStyle/>
          <a:p>
            <a:r>
              <a:rPr lang="pl-PL" dirty="0"/>
              <a:t> Na początku lat 50-tych naukowcy zaczęli badać sposoby przechowywania i organizowania danych w komputerach, co doprowadziło do opracowania niektórych z najwcześniejszych struktur </a:t>
            </a:r>
            <a:r>
              <a:rPr lang="pl-PL" dirty="0" err="1"/>
              <a:t>danych.Jedną</a:t>
            </a:r>
            <a:r>
              <a:rPr lang="pl-PL" dirty="0"/>
              <a:t> z pierwszych opracowanych struktur danych była tablica.</a:t>
            </a:r>
          </a:p>
          <a:p>
            <a:r>
              <a:rPr lang="pl-PL" dirty="0"/>
              <a:t>W latach 60. naukowcy zaczęli badać bardziej wyrafinowane struktury danych, takie jak połączone listy i drzewa.</a:t>
            </a:r>
          </a:p>
          <a:p>
            <a:r>
              <a:rPr lang="pl-PL" dirty="0"/>
              <a:t>W latach 70. naukowcy zaczęli badać bardziej zaawansowane struktury danych, takie jak tablice mieszające i grafy.</a:t>
            </a:r>
          </a:p>
          <a:p>
            <a:r>
              <a:rPr lang="pl-PL" dirty="0"/>
              <a:t>W latach 80. naukowcy pracowali nad poprawą wydajności, rozwinięcie drzew-</a:t>
            </a:r>
            <a:r>
              <a:rPr lang="pl-PL" dirty="0" err="1"/>
              <a:t>Splay</a:t>
            </a:r>
            <a:r>
              <a:rPr lang="pl-PL" dirty="0"/>
              <a:t> </a:t>
            </a:r>
            <a:r>
              <a:rPr lang="pl-PL" dirty="0" err="1"/>
              <a:t>Trees</a:t>
            </a:r>
            <a:r>
              <a:rPr lang="pl-PL" dirty="0"/>
              <a:t>, </a:t>
            </a:r>
            <a:r>
              <a:rPr lang="pl-PL" dirty="0" err="1"/>
              <a:t>hashtables</a:t>
            </a:r>
            <a:r>
              <a:rPr lang="pl-PL" dirty="0"/>
              <a:t>, skip listy.</a:t>
            </a:r>
          </a:p>
          <a:p>
            <a:endParaRPr lang="pl-P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D2FBF1-ECF4-A546-96BE-A071A22C7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DB354A-194B-E847-187D-58826253B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4147" y="6203646"/>
            <a:ext cx="402336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1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94D4F-DFE1-612D-1A3C-DB8605A0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353472-B139-376B-58AD-779E9BCA5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BC17F5-8653-C8E1-F0B2-AB146950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9"/>
            <a:ext cx="6183639" cy="1078992"/>
          </a:xfrm>
        </p:spPr>
        <p:txBody>
          <a:bodyPr anchor="t">
            <a:normAutofit fontScale="90000"/>
          </a:bodyPr>
          <a:lstStyle/>
          <a:p>
            <a:r>
              <a:rPr lang="pl-PL" sz="6600" dirty="0"/>
              <a:t>Historia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450B36-5933-81CB-2F28-24F2C549A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1994785"/>
            <a:ext cx="11186746" cy="4006841"/>
          </a:xfrm>
        </p:spPr>
        <p:txBody>
          <a:bodyPr anchor="b">
            <a:normAutofit/>
          </a:bodyPr>
          <a:lstStyle/>
          <a:p>
            <a:r>
              <a:rPr lang="pl-PL" dirty="0"/>
              <a:t>W latach 90. naukowcy nadal rozwijali i udoskonalali struktury danych, co doprowadziło do opracowania jeszcze bardziej zaawansowanych struktur danych, takich jak sterty i zrównoważone drzewa.</a:t>
            </a:r>
          </a:p>
          <a:p>
            <a:r>
              <a:rPr lang="pl-PL" dirty="0"/>
              <a:t>Obecnie struktury danych pozostają istotną częścią informatyki i nadal stanowią aktywny obszar badań i rozwoju.</a:t>
            </a:r>
          </a:p>
          <a:p>
            <a:r>
              <a:rPr lang="pl-PL" dirty="0"/>
              <a:t>Patrząc w przyszłość, prawdopodobnie będziemy świadkami rozwoju jeszcze bardziej zaawansowanych struktur danych</a:t>
            </a:r>
          </a:p>
          <a:p>
            <a:br>
              <a:rPr lang="pl-PL" dirty="0"/>
            </a:br>
            <a:r>
              <a:rPr lang="pl-PL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483FA3-438E-E893-3AD7-A342AF8D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642972-43CF-1330-20B9-497BEFEDC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4147" y="6203646"/>
            <a:ext cx="402336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3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5C94E-4438-B199-06FF-56E325BC9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BA7E5692-1344-BCE4-9B5A-6C36148E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41E686EE-8092-9AFD-7102-920BA9692B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9929"/>
          <a:stretch/>
        </p:blipFill>
        <p:spPr>
          <a:xfrm>
            <a:off x="-83129" y="0"/>
            <a:ext cx="12192001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0763193-F4A4-003F-2265-3F14F054E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3384" y="2626901"/>
            <a:ext cx="516523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200" dirty="0">
                <a:solidFill>
                  <a:srgbClr val="FFFFFF"/>
                </a:solidFill>
              </a:rPr>
              <a:t>RODZAJE STRUKTUR DANYCH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FA12484-BF2E-B3F2-2FA7-3BB47F01D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3909" y="4271957"/>
            <a:ext cx="5040785" cy="1724029"/>
          </a:xfrm>
        </p:spPr>
        <p:txBody>
          <a:bodyPr anchor="t">
            <a:normAutofit/>
          </a:bodyPr>
          <a:lstStyle/>
          <a:p>
            <a:r>
              <a:rPr lang="pl-PL" sz="2400" dirty="0">
                <a:solidFill>
                  <a:srgbClr val="FFFFFF"/>
                </a:solidFill>
              </a:rPr>
              <a:t>POPULARNE TYPY</a:t>
            </a: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457AB7CA-79C0-52A4-10FF-8B6CB133B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95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8C8BC-BDB9-6E7F-6F2B-15D163F2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2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2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84B7348-B828-6A4A-4987-B5D5E4A14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7" y="978408"/>
            <a:ext cx="6634665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Freeform: Shape 3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BCB53AA-5451-E334-2CE0-877095987C1E}"/>
              </a:ext>
            </a:extLst>
          </p:cNvPr>
          <p:cNvSpPr txBox="1"/>
          <p:nvPr/>
        </p:nvSpPr>
        <p:spPr>
          <a:xfrm>
            <a:off x="521208" y="2578608"/>
            <a:ext cx="626364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effectLst/>
              </a:rPr>
              <a:t>Tablice</a:t>
            </a:r>
            <a:br>
              <a:rPr lang="en-US" b="1" i="0" dirty="0">
                <a:effectLst/>
              </a:rPr>
            </a:br>
            <a:r>
              <a:rPr lang="en-US" b="0" i="0" dirty="0" err="1">
                <a:effectLst/>
              </a:rPr>
              <a:t>Umożliwiają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przechowywanie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elementów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tego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samego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typu</a:t>
            </a:r>
            <a:r>
              <a:rPr lang="en-US" b="0" i="0" dirty="0">
                <a:effectLst/>
              </a:rPr>
              <a:t> w </a:t>
            </a:r>
            <a:r>
              <a:rPr lang="en-US" b="0" i="0" dirty="0" err="1">
                <a:effectLst/>
              </a:rPr>
              <a:t>sposób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liniowy</a:t>
            </a:r>
            <a:r>
              <a:rPr lang="en-US" b="0" i="0" dirty="0">
                <a:effectLst/>
              </a:rPr>
              <a:t>, co </a:t>
            </a:r>
            <a:r>
              <a:rPr lang="en-US" b="0" i="0" dirty="0" err="1">
                <a:effectLst/>
              </a:rPr>
              <a:t>sprawia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że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dostęp</a:t>
            </a:r>
            <a:r>
              <a:rPr lang="en-US" b="0" i="0" dirty="0">
                <a:effectLst/>
              </a:rPr>
              <a:t> do </a:t>
            </a:r>
            <a:r>
              <a:rPr lang="en-US" b="0" i="0" dirty="0" err="1">
                <a:effectLst/>
              </a:rPr>
              <a:t>poszczególnych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elementów</a:t>
            </a:r>
            <a:r>
              <a:rPr lang="en-US" b="0" i="0" dirty="0">
                <a:effectLst/>
              </a:rPr>
              <a:t> jest </a:t>
            </a:r>
            <a:r>
              <a:rPr lang="en-US" b="0" i="0" dirty="0" err="1">
                <a:effectLst/>
              </a:rPr>
              <a:t>szybki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łatwy</a:t>
            </a:r>
            <a:r>
              <a:rPr lang="en-US" b="0" i="0" dirty="0">
                <a:effectLst/>
              </a:rPr>
              <a:t>. </a:t>
            </a:r>
            <a:r>
              <a:rPr lang="pl-PL" b="0" i="0" dirty="0">
                <a:effectLst/>
              </a:rPr>
              <a:t>Tablice mogą być: jednowymiarowe (wektory), dwuwymiarowe (macierze) lub wielowymiarowe.</a:t>
            </a:r>
            <a:endParaRPr lang="en-US" b="0" i="0" dirty="0">
              <a:effectLst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D548D982-44D0-8196-9769-C0664CE1D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237" y="1989611"/>
            <a:ext cx="4364590" cy="2878771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F8428A47-ABBB-5C49-9E8F-0349F7709C26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106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6CFC8-13D7-9015-934D-D26AF961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27">
            <a:extLst>
              <a:ext uri="{FF2B5EF4-FFF2-40B4-BE49-F238E27FC236}">
                <a16:creationId xmlns:a16="http://schemas.microsoft.com/office/drawing/2014/main" id="{BFCFC0AF-42A9-F8EF-D287-E15F6AEDF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29">
            <a:extLst>
              <a:ext uri="{FF2B5EF4-FFF2-40B4-BE49-F238E27FC236}">
                <a16:creationId xmlns:a16="http://schemas.microsoft.com/office/drawing/2014/main" id="{F213E404-05FA-B281-65AB-4CE7A804C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1">
            <a:extLst>
              <a:ext uri="{FF2B5EF4-FFF2-40B4-BE49-F238E27FC236}">
                <a16:creationId xmlns:a16="http://schemas.microsoft.com/office/drawing/2014/main" id="{E0FD018C-E69D-1ECB-4CDF-6188503A9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6338EAF9-8C42-E785-D7CF-5D6D707CB1F6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EE32E70D-9E81-03CF-F0EE-955794620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7" y="894005"/>
            <a:ext cx="10237617" cy="3619002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AE8BF205-3351-33EA-FA31-2DBA77BC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489" y="4703520"/>
            <a:ext cx="6659021" cy="224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3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ED7E2-47BA-4661-A108-1B3B81D7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54F88AB-AC31-C3FA-3BC9-41E997B25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46841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ABB4880-E9B0-9869-A703-8CBBBA3D403C}"/>
              </a:ext>
            </a:extLst>
          </p:cNvPr>
          <p:cNvSpPr txBox="1"/>
          <p:nvPr/>
        </p:nvSpPr>
        <p:spPr>
          <a:xfrm>
            <a:off x="521208" y="2578608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1"/>
              <a:t>Lista</a:t>
            </a:r>
            <a:br>
              <a:rPr lang="en-US"/>
            </a:br>
            <a:r>
              <a:rPr lang="en-US"/>
              <a:t> Dynamiczna, liniowa struktura danych składająca się z elementów powiązanych ze sobą w taki sposób, iż można z łatwością dodawać, usuwać, modyfikować lub podmieniać poszczególne elementy.</a:t>
            </a:r>
            <a:endParaRPr lang="en-US" b="0" i="0" dirty="0">
              <a:effectLst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2786AD3-BBAC-264F-C4A7-209C0A19E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45" y="4886259"/>
            <a:ext cx="8740071" cy="895857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317C4C5C-476F-D503-11EC-D807834D8B03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113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B2DB3-31F9-F505-FD70-8B026E19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27">
            <a:extLst>
              <a:ext uri="{FF2B5EF4-FFF2-40B4-BE49-F238E27FC236}">
                <a16:creationId xmlns:a16="http://schemas.microsoft.com/office/drawing/2014/main" id="{41A9B0ED-B778-0F88-E727-EF4C0647E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29">
            <a:extLst>
              <a:ext uri="{FF2B5EF4-FFF2-40B4-BE49-F238E27FC236}">
                <a16:creationId xmlns:a16="http://schemas.microsoft.com/office/drawing/2014/main" id="{D4060BEB-CD4C-A627-834D-A6E467C60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1">
            <a:extLst>
              <a:ext uri="{FF2B5EF4-FFF2-40B4-BE49-F238E27FC236}">
                <a16:creationId xmlns:a16="http://schemas.microsoft.com/office/drawing/2014/main" id="{9DD1B094-D398-858E-3D1B-BD85C54A9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00D20C1C-B423-6647-4225-F3ECC742F7C8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92ACB207-C90F-B1C9-F496-CCDFA3C4E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8" y="657369"/>
            <a:ext cx="7890387" cy="4590838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121D707-73A4-749F-860B-FE1810AD7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455" y="5243052"/>
            <a:ext cx="6266297" cy="161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5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624BC-F1CE-FA3D-4ED2-4C672CEB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632710-761A-A43B-F1BC-5924347D1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9A17CBE-9B29-FF01-84C4-6AD5EC1D8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657369"/>
            <a:ext cx="9040800" cy="1078992"/>
          </a:xfrm>
        </p:spPr>
        <p:txBody>
          <a:bodyPr anchor="t">
            <a:normAutofit fontScale="90000"/>
          </a:bodyPr>
          <a:lstStyle/>
          <a:p>
            <a:r>
              <a:rPr lang="pl-PL" sz="6600" dirty="0"/>
              <a:t>Rodzaje struktur danych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F9A23F-F321-DE0B-3458-7D452E11E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B6AEA7-2314-030D-8636-BB8D76A04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4147" y="6203646"/>
            <a:ext cx="402336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6F9232ED-2556-DE00-6468-97855D0962CB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0EEF5D6-9F4E-F7BA-B3BE-73FFEBDA4643}"/>
              </a:ext>
            </a:extLst>
          </p:cNvPr>
          <p:cNvSpPr txBox="1"/>
          <p:nvPr/>
        </p:nvSpPr>
        <p:spPr>
          <a:xfrm>
            <a:off x="517870" y="2659038"/>
            <a:ext cx="6271156" cy="180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pl-PL" sz="2000" b="1" i="1" dirty="0"/>
              <a:t>Stosy</a:t>
            </a:r>
            <a:br>
              <a:rPr lang="pl-PL" dirty="0"/>
            </a:br>
            <a:r>
              <a:rPr lang="pl-PL" dirty="0"/>
              <a:t>Stos to struktura danych działająca na zasadzie LIFO (</a:t>
            </a:r>
            <a:r>
              <a:rPr lang="pl-PL" dirty="0" err="1"/>
              <a:t>Last</a:t>
            </a:r>
            <a:r>
              <a:rPr lang="pl-PL" dirty="0"/>
              <a:t> In, First Out), gdzie ostatni dodany element jest usuwany jako pierwszy</a:t>
            </a:r>
          </a:p>
          <a:p>
            <a:pPr algn="l">
              <a:spcAft>
                <a:spcPts val="2250"/>
              </a:spcAft>
              <a:buNone/>
            </a:pPr>
            <a:endParaRPr lang="pl-PL" dirty="0"/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B72DB837-1D74-1F0C-BC2C-52054C39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96" y="2081881"/>
            <a:ext cx="3813470" cy="269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53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9FF5A-A779-F978-D5F0-4B281BF5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27">
            <a:extLst>
              <a:ext uri="{FF2B5EF4-FFF2-40B4-BE49-F238E27FC236}">
                <a16:creationId xmlns:a16="http://schemas.microsoft.com/office/drawing/2014/main" id="{1F1334B6-8600-A572-80D5-E581193C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29">
            <a:extLst>
              <a:ext uri="{FF2B5EF4-FFF2-40B4-BE49-F238E27FC236}">
                <a16:creationId xmlns:a16="http://schemas.microsoft.com/office/drawing/2014/main" id="{95C4A81D-C9BB-A595-DBE8-2D0E2C685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1">
            <a:extLst>
              <a:ext uri="{FF2B5EF4-FFF2-40B4-BE49-F238E27FC236}">
                <a16:creationId xmlns:a16="http://schemas.microsoft.com/office/drawing/2014/main" id="{A462C37E-FA7C-EABB-8059-32C390775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E390051C-27FB-79CF-E2FD-D29D5CA7BBB2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48B8E8F-6E09-ABB1-8E75-653D9A610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31" y="703974"/>
            <a:ext cx="8388824" cy="438544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831F428C-FB45-B357-F2FD-2A03C0C03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698" y="5064745"/>
            <a:ext cx="6717890" cy="183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9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3F3AA-6043-ADC0-0634-517E87BB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05A6EA5-A7A8-3334-F802-08635FAE4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79646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ED8FAE5-4AD6-49BF-09EB-06FCA358FEA6}"/>
              </a:ext>
            </a:extLst>
          </p:cNvPr>
          <p:cNvSpPr txBox="1"/>
          <p:nvPr/>
        </p:nvSpPr>
        <p:spPr>
          <a:xfrm>
            <a:off x="572828" y="2147185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/>
              <a:t>Kolejki</a:t>
            </a:r>
            <a:br>
              <a:rPr lang="en-US" b="1" i="0" dirty="0"/>
            </a:br>
            <a:r>
              <a:rPr lang="en-US" b="0" i="0" dirty="0" err="1"/>
              <a:t>Kolejki</a:t>
            </a:r>
            <a:r>
              <a:rPr lang="en-US" b="0" i="0" dirty="0"/>
              <a:t> </a:t>
            </a:r>
            <a:r>
              <a:rPr lang="en-US" b="0" i="0" dirty="0" err="1"/>
              <a:t>działają</a:t>
            </a:r>
            <a:r>
              <a:rPr lang="en-US" b="0" i="0" dirty="0"/>
              <a:t> </a:t>
            </a:r>
            <a:r>
              <a:rPr lang="en-US" b="0" i="0" dirty="0" err="1"/>
              <a:t>na</a:t>
            </a:r>
            <a:r>
              <a:rPr lang="en-US" b="0" i="0" dirty="0"/>
              <a:t> </a:t>
            </a:r>
            <a:r>
              <a:rPr lang="en-US" b="0" i="0" dirty="0" err="1"/>
              <a:t>zasadzie</a:t>
            </a:r>
            <a:r>
              <a:rPr lang="en-US" b="0" i="0" dirty="0"/>
              <a:t> FIFO (First In, First Out), co </a:t>
            </a:r>
            <a:r>
              <a:rPr lang="en-US" b="0" i="0" dirty="0" err="1"/>
              <a:t>oznacza</a:t>
            </a:r>
            <a:r>
              <a:rPr lang="en-US" b="0" i="0" dirty="0"/>
              <a:t>, </a:t>
            </a:r>
            <a:r>
              <a:rPr lang="en-US" b="0" i="0" dirty="0" err="1"/>
              <a:t>że</a:t>
            </a:r>
            <a:r>
              <a:rPr lang="en-US" b="0" i="0" dirty="0"/>
              <a:t> </a:t>
            </a:r>
            <a:r>
              <a:rPr lang="en-US" b="0" i="0" dirty="0" err="1"/>
              <a:t>pierwszy</a:t>
            </a:r>
            <a:r>
              <a:rPr lang="en-US" b="0" i="0" dirty="0"/>
              <a:t> </a:t>
            </a:r>
            <a:r>
              <a:rPr lang="en-US" b="0" i="0" dirty="0" err="1"/>
              <a:t>dodany</a:t>
            </a:r>
            <a:r>
              <a:rPr lang="en-US" b="0" i="0" dirty="0"/>
              <a:t> element jest </a:t>
            </a:r>
            <a:r>
              <a:rPr lang="en-US" b="0" i="0" dirty="0" err="1"/>
              <a:t>usuwany</a:t>
            </a:r>
            <a:r>
              <a:rPr lang="en-US" b="0" i="0" dirty="0"/>
              <a:t> </a:t>
            </a:r>
            <a:r>
              <a:rPr lang="en-US" b="0" i="0" dirty="0" err="1"/>
              <a:t>jako</a:t>
            </a:r>
            <a:r>
              <a:rPr lang="en-US" b="0" i="0" dirty="0"/>
              <a:t> </a:t>
            </a:r>
            <a:r>
              <a:rPr lang="en-US" b="0" i="0" dirty="0" err="1"/>
              <a:t>pierwszy</a:t>
            </a:r>
            <a:r>
              <a:rPr lang="en-US" b="0" i="0" dirty="0"/>
              <a:t>.</a:t>
            </a:r>
            <a:endParaRPr lang="pl-PL" b="0" i="0" dirty="0"/>
          </a:p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Kolejka priorytetowa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jest kolejką, w której elementy są ułożone nie w kolejności wprowadzania, lecz w kolejności </a:t>
            </a:r>
            <a:r>
              <a:rPr lang="pl-PL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priorytetu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Każdy element kolejki posiada dodatkowe pole </a:t>
            </a:r>
            <a:r>
              <a:rPr lang="pl-PL" b="1" i="0" dirty="0" err="1">
                <a:solidFill>
                  <a:srgbClr val="9900CC"/>
                </a:solidFill>
                <a:effectLst/>
                <a:latin typeface="Roboto" panose="02000000000000000000" pitchFamily="2" charset="0"/>
              </a:rPr>
              <a:t>prio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w którym przechowuje swój priorytet – czyli ważność.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61647C9-EE59-A49C-0DB4-757F4935B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111" y="1795324"/>
            <a:ext cx="4356461" cy="3267345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0E885486-20C4-61D7-3AD0-3BE806301FFC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967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CBBBA-10CF-93FC-555C-632FFBC3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172D1B2-D4CC-6C8F-A408-16F1F576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730661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9AB0CC1-1FC6-5829-A4C0-B809755DBBF9}"/>
              </a:ext>
            </a:extLst>
          </p:cNvPr>
          <p:cNvSpPr txBox="1"/>
          <p:nvPr/>
        </p:nvSpPr>
        <p:spPr>
          <a:xfrm>
            <a:off x="585493" y="2266941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/>
              <a:t>Drzewa</a:t>
            </a:r>
            <a:br>
              <a:rPr lang="en-US" b="1" i="0" dirty="0"/>
            </a:br>
            <a:r>
              <a:rPr lang="en-US" b="1" i="0" dirty="0" err="1"/>
              <a:t>Drzewo</a:t>
            </a:r>
            <a:r>
              <a:rPr lang="en-US" b="0" i="0" dirty="0">
                <a:effectLst/>
              </a:rPr>
              <a:t> jest </a:t>
            </a:r>
            <a:r>
              <a:rPr lang="en-US" b="0" i="0" dirty="0" err="1">
                <a:effectLst/>
              </a:rPr>
              <a:t>hierarchiczną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strukturą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danych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którą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współczesna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informatyka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wykorzystuje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bardzo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często</a:t>
            </a:r>
            <a:r>
              <a:rPr lang="en-US" b="0" i="0" dirty="0">
                <a:effectLst/>
              </a:rPr>
              <a:t> do </a:t>
            </a:r>
            <a:r>
              <a:rPr lang="en-US" b="0" i="0" dirty="0" err="1">
                <a:effectLst/>
              </a:rPr>
              <a:t>rozwiązywania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różnych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problemów</a:t>
            </a:r>
            <a:r>
              <a:rPr lang="en-US" b="0" i="0" dirty="0">
                <a:effectLst/>
              </a:rPr>
              <a:t>. Nie </a:t>
            </a:r>
            <a:r>
              <a:rPr lang="en-US" b="0" i="0" dirty="0" err="1">
                <a:effectLst/>
              </a:rPr>
              <a:t>szukając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daleko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katalogi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i</a:t>
            </a:r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pliki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są</a:t>
            </a:r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zorganizowane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na</a:t>
            </a:r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twoim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komputerze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właśnie</a:t>
            </a:r>
            <a:r>
              <a:rPr lang="en-US" b="0" i="0" dirty="0">
                <a:effectLst/>
              </a:rPr>
              <a:t> w </a:t>
            </a:r>
            <a:r>
              <a:rPr lang="en-US" b="0" i="0" dirty="0" err="1">
                <a:effectLst/>
              </a:rPr>
              <a:t>strukturze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drzewa</a:t>
            </a:r>
            <a:r>
              <a:rPr lang="en-US" b="0" i="0" dirty="0">
                <a:effectLst/>
              </a:rPr>
              <a:t>. </a:t>
            </a:r>
            <a:r>
              <a:rPr lang="en-US" b="0" i="0" dirty="0" err="1">
                <a:effectLst/>
              </a:rPr>
              <a:t>Zastosowań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drzew</a:t>
            </a:r>
            <a:r>
              <a:rPr lang="en-US" b="0" i="0" dirty="0">
                <a:effectLst/>
              </a:rPr>
              <a:t> jest </a:t>
            </a:r>
            <a:r>
              <a:rPr lang="en-US" b="0" i="0" dirty="0" err="1">
                <a:effectLst/>
              </a:rPr>
              <a:t>całe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mnóstwo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dlatego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uczeń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informatyki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powinien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dobrze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poznać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</a:t>
            </a:r>
            <a:r>
              <a:rPr lang="en-US" b="0" i="0" dirty="0">
                <a:effectLst/>
              </a:rPr>
              <a:t>  </a:t>
            </a:r>
            <a:r>
              <a:rPr lang="en-US" b="0" i="0" dirty="0" err="1">
                <a:effectLst/>
              </a:rPr>
              <a:t>struktury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danych</a:t>
            </a:r>
            <a:r>
              <a:rPr lang="en-US" b="0" i="0" dirty="0">
                <a:effectLst/>
              </a:rPr>
              <a:t>. Mam </a:t>
            </a:r>
            <a:r>
              <a:rPr lang="en-US" b="0" i="0" dirty="0" err="1">
                <a:effectLst/>
              </a:rPr>
              <a:t>nadzieję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że</a:t>
            </a:r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informacje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zawarte</a:t>
            </a:r>
            <a:r>
              <a:rPr lang="en-US" b="0" i="0" dirty="0">
                <a:effectLst/>
              </a:rPr>
              <a:t> w </a:t>
            </a:r>
            <a:r>
              <a:rPr lang="en-US" b="0" i="0" dirty="0" err="1">
                <a:effectLst/>
              </a:rPr>
              <a:t>tym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rozdziale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okażą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się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pomocne</a:t>
            </a:r>
            <a:r>
              <a:rPr lang="en-US" b="0" i="0" dirty="0">
                <a:effectLst/>
              </a:rPr>
              <a:t> w </a:t>
            </a:r>
            <a:r>
              <a:rPr lang="en-US" b="0" i="0" dirty="0" err="1">
                <a:effectLst/>
              </a:rPr>
              <a:t>osiągnięciu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tego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celu</a:t>
            </a:r>
            <a:r>
              <a:rPr lang="en-US" b="0" i="0" dirty="0">
                <a:effectLst/>
              </a:rPr>
              <a:t>.</a:t>
            </a:r>
            <a:endParaRPr lang="en-US" dirty="0"/>
          </a:p>
        </p:txBody>
      </p:sp>
      <p:pic>
        <p:nvPicPr>
          <p:cNvPr id="25" name="Graphic 24" descr="Deciduous tree">
            <a:extLst>
              <a:ext uri="{FF2B5EF4-FFF2-40B4-BE49-F238E27FC236}">
                <a16:creationId xmlns:a16="http://schemas.microsoft.com/office/drawing/2014/main" id="{86879183-F3A4-317B-9701-A74A8642B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6662" y="1283923"/>
            <a:ext cx="4356461" cy="4356461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AC6658AE-9AF4-8E11-CADD-C22DEC0AE107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6208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ABE3A-8673-90BD-53EE-128AB26F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ABDE79E-ED71-9EFF-F02F-E5EA4DF29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126E71B-3D7F-4CB0-155E-0D41D2EE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8F8CB09-78B6-234E-9D95-0B1AB2BF0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7" y="978408"/>
            <a:ext cx="7486719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235B42-0D50-42BB-E603-5011C6703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98F2B2B8-F55D-AFA7-29C7-C76F89CE8430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8B89C23-6590-8A38-935A-1B9E3D987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139"/>
            <a:ext cx="12192000" cy="367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6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DC551-8476-68D8-9BED-A74A7019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6FA993-6032-A4E7-7F8F-6C97BCC04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C258A53-F6E7-F3F7-9C6D-692563D15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42ECEE-B07F-8B40-AE14-879D18742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730661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9486A0-CB2C-A8EB-2F8C-F8589CAED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8A38459-8695-E25C-3AF8-E1155B3A68B9}"/>
              </a:ext>
            </a:extLst>
          </p:cNvPr>
          <p:cNvSpPr txBox="1"/>
          <p:nvPr/>
        </p:nvSpPr>
        <p:spPr>
          <a:xfrm>
            <a:off x="517869" y="2266941"/>
            <a:ext cx="64654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/>
              <a:t>Drzew</a:t>
            </a:r>
            <a:r>
              <a:rPr lang="pl-PL" b="1" i="0" dirty="0"/>
              <a:t>o binarne</a:t>
            </a:r>
            <a:br>
              <a:rPr lang="en-US" b="1" i="0" dirty="0"/>
            </a:b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Drzewo, w którym węzły mogą posiadać co najwyżej dwóch synów, nazywa się </a:t>
            </a:r>
            <a:r>
              <a:rPr lang="pl-PL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drzewem binarnym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. Węzły potomne nazywamy odpowiednio </a:t>
            </a:r>
            <a:r>
              <a:rPr lang="pl-PL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synem lewym i prawym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Drzewa binarne mają ogromne znaczenie w informatyce, ponieważ za ich pomocą można odwzorować również drzewa, których węzły posiadają dowolną liczbę synów.</a:t>
            </a:r>
            <a:endParaRPr lang="en-US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DDE59AC9-3588-9588-8978-5E5C22C87FC1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4A6A796-A561-729A-BC81-0E693B44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98" y="2162332"/>
            <a:ext cx="5326919" cy="289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50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FFF7D-C90E-D243-1F29-9DACA3E2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27">
            <a:extLst>
              <a:ext uri="{FF2B5EF4-FFF2-40B4-BE49-F238E27FC236}">
                <a16:creationId xmlns:a16="http://schemas.microsoft.com/office/drawing/2014/main" id="{93463023-21C1-0D64-4872-31774D99E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29">
            <a:extLst>
              <a:ext uri="{FF2B5EF4-FFF2-40B4-BE49-F238E27FC236}">
                <a16:creationId xmlns:a16="http://schemas.microsoft.com/office/drawing/2014/main" id="{9DA91779-C5AC-2382-0C3B-2D7FB597D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1">
            <a:extLst>
              <a:ext uri="{FF2B5EF4-FFF2-40B4-BE49-F238E27FC236}">
                <a16:creationId xmlns:a16="http://schemas.microsoft.com/office/drawing/2014/main" id="{7A308B28-4EE0-9C3C-1F0E-36E4A8CC9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9D511206-D060-887D-0D47-203503283F90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E1B0A28-7066-A827-F2D1-A837CAADA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54623"/>
            <a:ext cx="8964310" cy="6250837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F7DB752-5C59-3F2C-7883-C4AE0875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624" y="2856173"/>
            <a:ext cx="3230788" cy="156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96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75DFE-CE84-8EA9-B70C-2B28841D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B9F90AC-2793-2584-B26B-E955CDD8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91626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713EA0-EEA1-733C-FF3B-4B3BF5BCA9CC}"/>
              </a:ext>
            </a:extLst>
          </p:cNvPr>
          <p:cNvSpPr txBox="1"/>
          <p:nvPr/>
        </p:nvSpPr>
        <p:spPr>
          <a:xfrm>
            <a:off x="517869" y="2400561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dirty="0"/>
              <a:t>Kopiec </a:t>
            </a:r>
            <a:r>
              <a:rPr lang="en-US" b="1" i="1" dirty="0" err="1"/>
              <a:t>binarny</a:t>
            </a:r>
            <a:r>
              <a:rPr lang="en-US" b="1" i="1" dirty="0"/>
              <a:t> </a:t>
            </a:r>
            <a:br>
              <a:rPr lang="en-US" b="1" i="1" dirty="0"/>
            </a:br>
            <a:r>
              <a:rPr lang="en-US" b="0" i="0" dirty="0"/>
              <a:t>jest </a:t>
            </a:r>
            <a:r>
              <a:rPr lang="en-US" b="0" i="0" dirty="0" err="1"/>
              <a:t>kompletnym</a:t>
            </a:r>
            <a:r>
              <a:rPr lang="en-US" b="0" i="0" dirty="0"/>
              <a:t> </a:t>
            </a:r>
            <a:r>
              <a:rPr lang="en-US" b="0" i="0" dirty="0" err="1"/>
              <a:t>drzewem</a:t>
            </a:r>
            <a:r>
              <a:rPr lang="en-US" b="0" i="0" dirty="0"/>
              <a:t> </a:t>
            </a:r>
            <a:r>
              <a:rPr lang="en-US" b="0" i="0" dirty="0" err="1"/>
              <a:t>binarnym</a:t>
            </a:r>
            <a:r>
              <a:rPr lang="en-US" b="0" i="0" dirty="0"/>
              <a:t>, co </a:t>
            </a:r>
            <a:r>
              <a:rPr lang="en-US" b="0" i="0" dirty="0" err="1"/>
              <a:t>oznacza</a:t>
            </a:r>
            <a:r>
              <a:rPr lang="en-US" b="0" i="0" dirty="0"/>
              <a:t>, </a:t>
            </a:r>
            <a:r>
              <a:rPr lang="en-US" b="0" i="0" dirty="0" err="1"/>
              <a:t>że</a:t>
            </a:r>
            <a:r>
              <a:rPr lang="en-US" b="0" i="0" dirty="0"/>
              <a:t> posada </a:t>
            </a:r>
            <a:r>
              <a:rPr lang="en-US" b="0" i="0" dirty="0" err="1"/>
              <a:t>zapełnione</a:t>
            </a:r>
            <a:r>
              <a:rPr lang="en-US" b="0" i="0" dirty="0"/>
              <a:t> </a:t>
            </a:r>
            <a:r>
              <a:rPr lang="en-US" b="0" i="0" dirty="0" err="1"/>
              <a:t>wszystkie</a:t>
            </a:r>
            <a:r>
              <a:rPr lang="en-US" b="0" i="0" dirty="0"/>
              <a:t> </a:t>
            </a:r>
            <a:r>
              <a:rPr lang="en-US" b="0" i="0" dirty="0" err="1"/>
              <a:t>poziomy</a:t>
            </a:r>
            <a:r>
              <a:rPr lang="en-US" b="0" i="0" dirty="0"/>
              <a:t> za </a:t>
            </a:r>
            <a:r>
              <a:rPr lang="en-US" b="0" i="0" dirty="0" err="1"/>
              <a:t>wyjątkiem</a:t>
            </a:r>
            <a:r>
              <a:rPr lang="en-US" b="0" i="0" dirty="0"/>
              <a:t> </a:t>
            </a:r>
            <a:r>
              <a:rPr lang="en-US" b="0" i="0" dirty="0" err="1"/>
              <a:t>ostatniego</a:t>
            </a:r>
            <a:r>
              <a:rPr lang="en-US" b="0" i="0" dirty="0"/>
              <a:t>, a </a:t>
            </a:r>
            <a:r>
              <a:rPr lang="en-US" b="0" i="0" dirty="0" err="1"/>
              <a:t>ostatni</a:t>
            </a:r>
            <a:r>
              <a:rPr lang="en-US" b="0" i="0" dirty="0"/>
              <a:t> </a:t>
            </a:r>
            <a:r>
              <a:rPr lang="en-US" b="0" i="0" dirty="0" err="1"/>
              <a:t>poziom</a:t>
            </a:r>
            <a:r>
              <a:rPr lang="en-US" b="0" i="0" dirty="0"/>
              <a:t> jest </a:t>
            </a:r>
            <a:r>
              <a:rPr lang="en-US" b="0" i="0" dirty="0" err="1"/>
              <a:t>zapełniany</a:t>
            </a:r>
            <a:r>
              <a:rPr lang="en-US" b="0" i="0" dirty="0"/>
              <a:t> bez </a:t>
            </a:r>
            <a:r>
              <a:rPr lang="en-US" b="0" i="0" dirty="0" err="1"/>
              <a:t>przerw</a:t>
            </a:r>
            <a:r>
              <a:rPr lang="en-US" b="0" i="0" dirty="0"/>
              <a:t>, </a:t>
            </a:r>
            <a:r>
              <a:rPr lang="en-US" b="0" i="0" dirty="0" err="1"/>
              <a:t>poczynając</a:t>
            </a:r>
            <a:r>
              <a:rPr lang="en-US" b="0" i="0" dirty="0"/>
              <a:t> od </a:t>
            </a:r>
            <a:r>
              <a:rPr lang="en-US" b="0" i="0" dirty="0" err="1"/>
              <a:t>strony</a:t>
            </a:r>
            <a:r>
              <a:rPr lang="en-US" b="0" i="0" dirty="0"/>
              <a:t> </a:t>
            </a:r>
            <a:r>
              <a:rPr lang="en-US" b="0" i="0" dirty="0" err="1"/>
              <a:t>lewej</a:t>
            </a:r>
            <a:r>
              <a:rPr lang="en-US" b="0" i="0" dirty="0"/>
              <a:t> do </a:t>
            </a:r>
            <a:r>
              <a:rPr lang="en-US" b="0" i="0" dirty="0" err="1"/>
              <a:t>prawej</a:t>
            </a:r>
            <a:r>
              <a:rPr lang="en-US" b="0" i="0" dirty="0"/>
              <a:t>.</a:t>
            </a:r>
            <a:endParaRPr lang="en-US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FF7BAD0-1D6A-946A-3D78-A90E09C5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98" y="1709928"/>
            <a:ext cx="5144166" cy="342087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F8B811DE-BC1D-AABB-0FC0-8F09CC61FD16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4810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36224-3C18-5758-E265-ACFE2096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3044BF6-6EEC-454A-5118-0C591D3F7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7DAEBE9-9F93-D0E7-3D79-3B46F0D37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8DFBB5A-F28C-897A-B4CD-3ABB604F4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91626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4B81494-0B19-B882-96FE-B2A088C48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E3CCCA1-EAFC-B378-2A8C-93E74EE6E67C}"/>
              </a:ext>
            </a:extLst>
          </p:cNvPr>
          <p:cNvSpPr txBox="1"/>
          <p:nvPr/>
        </p:nvSpPr>
        <p:spPr>
          <a:xfrm>
            <a:off x="666932" y="2536751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i="1" dirty="0"/>
              <a:t>Drzewo </a:t>
            </a:r>
            <a:r>
              <a:rPr lang="pl-PL" b="1" i="1" dirty="0" err="1"/>
              <a:t>trie</a:t>
            </a:r>
            <a:r>
              <a:rPr lang="pl-PL" b="1" i="1" dirty="0"/>
              <a:t> </a:t>
            </a:r>
            <a:br>
              <a:rPr lang="en-US" b="1" i="1" dirty="0"/>
            </a:br>
            <a:r>
              <a:rPr lang="pl-PL" b="0" i="0" dirty="0"/>
              <a:t> jest drzewem poszukiwań, które używa się do  przechowywania kluczy tekstowych. Umożliwia ono szybkie wyszukiwanie klucza w  zbiorze w czasie O(n), gdzie n oznacza liczbę znaków tworzących klucz.</a:t>
            </a:r>
            <a:endParaRPr lang="en-US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57DF1BBB-7E2F-B1EA-FB3C-329AE98B147A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5F4D43A-8F92-A1E2-30CC-9DD765D2C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860" y="703974"/>
            <a:ext cx="5176444" cy="489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2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04948-E040-D779-DC20-E459FA049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0691AF8-5521-3FA0-5210-0AA01F2A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6BC5E5B-F5BD-8391-A2AD-23368E90B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AD4104-5F5F-A819-8AED-FD5998FF1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916266" cy="9244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780FD7-488B-898F-DB79-06FB2EBF0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6E76E77-28A6-B152-4758-5F62B0DC2860}"/>
              </a:ext>
            </a:extLst>
          </p:cNvPr>
          <p:cNvSpPr txBox="1"/>
          <p:nvPr/>
        </p:nvSpPr>
        <p:spPr>
          <a:xfrm>
            <a:off x="517870" y="1874018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i="1" dirty="0"/>
              <a:t>GRAF</a:t>
            </a:r>
            <a:br>
              <a:rPr lang="pl-PL" b="1" i="1" dirty="0"/>
            </a:b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jest powszechnie stosowaną strukturą danych we współczesnej informatyce. Pozwala on modelować wszelkiego rodzaju sieci oraz układy, w których występują skomplikowane zależności pomiędzy składnikami.</a:t>
            </a:r>
            <a:b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lang="pl-PL" b="1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Graf nieskierowany 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 krawędzie bez kierunku.</a:t>
            </a:r>
          </a:p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Graf skierowany 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krawędzie mają kierunek, brak cykli.</a:t>
            </a:r>
          </a:p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Graf ważony 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 każda krawędź ma przypisaną wagę.</a:t>
            </a:r>
          </a:p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Grafowe sieci neuronowe </a:t>
            </a:r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w AI - iteracyjnie aktualizują reprezentacje węzłów poprzez agregację informacji z ich sąsiadów</a:t>
            </a:r>
          </a:p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pl-PL" b="0" i="0" dirty="0"/>
              <a:t> </a:t>
            </a:r>
            <a:endParaRPr lang="en-US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5C49AC48-134A-18A6-73D7-4CF62659CDC2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388C3E5-C149-31BB-8F8E-3AA6C4493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459" y="70969"/>
            <a:ext cx="3404138" cy="301031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2B9223F-0480-3C5E-D6E8-CACAC8AF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030" y="3056653"/>
            <a:ext cx="4986995" cy="37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06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A808B-734C-E6D8-CC79-81280B3C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E422724-D074-3CD8-5000-2D3179B14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97176FD-F084-41E9-2795-FC31EE790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D3D4055-F76E-F327-553E-87346797F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916266" cy="9244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F85376-30C1-3AC5-F90C-F248C20BA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CCD65ED-854F-8308-B474-65F0285D7C75}"/>
              </a:ext>
            </a:extLst>
          </p:cNvPr>
          <p:cNvSpPr txBox="1"/>
          <p:nvPr/>
        </p:nvSpPr>
        <p:spPr>
          <a:xfrm>
            <a:off x="517870" y="1874018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dirty="0" err="1"/>
              <a:t>Hashmapa</a:t>
            </a:r>
            <a:br>
              <a:rPr lang="pl-PL" dirty="0"/>
            </a:br>
            <a:r>
              <a:rPr lang="pl-PL" dirty="0">
                <a:solidFill>
                  <a:srgbClr val="222222"/>
                </a:solidFill>
                <a:latin typeface="Verdana" panose="020B0604030504040204" pitchFamily="34" charset="0"/>
              </a:rPr>
              <a:t>P</a:t>
            </a:r>
            <a:r>
              <a:rPr lang="pl-PL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ozwala przechowywać dane w postaci par „klucz-wartość”. Każdy element w </a:t>
            </a:r>
            <a:r>
              <a:rPr lang="pl-PL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HashMap</a:t>
            </a:r>
            <a:r>
              <a:rPr lang="pl-PL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jest skojarzony z unikalnym kluczem, który jest używany do uzyskania dostępu do wartości skojarzonej z tym kluczem. Dzięki temu </a:t>
            </a:r>
            <a:r>
              <a:rPr lang="pl-PL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HashMap</a:t>
            </a:r>
            <a:r>
              <a:rPr lang="pl-PL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oferuje szybki dostęp do danych — czas wyszukiwania, dodawania i usuwania elementów jest średnio O(1), co oznacza, że jest stały, niezależnie od liczby elementów w mapie.</a:t>
            </a:r>
            <a:endParaRPr lang="en-US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5DDB6B89-1929-D8BB-D55E-83FDB1DCA606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056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FC025-9D85-2E42-1A1A-D352E360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9298535-44C9-64EF-889C-9BD4EE205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C4A4D71-6B38-C9CD-ED98-1482C59A1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E526C90-0948-7D3E-74CD-F9914DA26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08116DB7-6848-DB39-4618-F705DD5DEE4E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43917B4-C38A-29BA-243E-CCAFC0A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9" y="967439"/>
            <a:ext cx="9190703" cy="4180195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B852CDD9-FE79-5C59-3F60-0E2C53A5B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89" y="5494933"/>
            <a:ext cx="6991570" cy="60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28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BD899-E6AC-39F8-F546-896BB824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BC9895A-DD1C-6FCD-00C1-BFCE0C3C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35241F31-6FED-C0F6-0B62-C21FB421A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F27AD15-C0C0-F407-0596-B328DB65B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916266" cy="9244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Rodzaje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danych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490148-0245-94B3-2CA6-A56E691B2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FCA5A6C-8410-209A-B7D3-B322F4D95444}"/>
              </a:ext>
            </a:extLst>
          </p:cNvPr>
          <p:cNvSpPr txBox="1"/>
          <p:nvPr/>
        </p:nvSpPr>
        <p:spPr>
          <a:xfrm>
            <a:off x="517870" y="1874018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i="1" dirty="0"/>
              <a:t>BLOOM FILTERS</a:t>
            </a:r>
            <a:br>
              <a:rPr lang="pl-PL" b="1" i="1" dirty="0"/>
            </a:br>
            <a:r>
              <a:rPr lang="pl-PL" b="0" i="0" dirty="0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to wydajna czasowo i pamięciowo struktura danych służąca do sprawdzenia czy element należy do zbioru danych, jest o wiele bardziej  złożona pamięciowo, niż </a:t>
            </a:r>
            <a:r>
              <a:rPr lang="pl-PL" b="0" i="0" dirty="0" err="1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hashmapy</a:t>
            </a:r>
            <a:r>
              <a:rPr lang="pl-PL" b="0" i="0" dirty="0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, niekoniecznie zawsze zwraca poprawny wynik, ale nigdy nie </a:t>
            </a:r>
            <a:r>
              <a:rPr lang="pl-PL" b="0" i="0" dirty="0" err="1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okresli</a:t>
            </a:r>
            <a:r>
              <a:rPr lang="pl-PL" b="0" i="0" dirty="0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 tzw. “</a:t>
            </a:r>
            <a:r>
              <a:rPr lang="pl-PL" b="0" i="0" dirty="0" err="1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false</a:t>
            </a:r>
            <a:r>
              <a:rPr lang="pl-PL" b="0" i="0" dirty="0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 </a:t>
            </a:r>
            <a:r>
              <a:rPr lang="pl-PL" b="0" i="0" dirty="0" err="1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negatives</a:t>
            </a:r>
            <a:r>
              <a:rPr lang="pl-PL" b="0" i="0" dirty="0">
                <a:solidFill>
                  <a:srgbClr val="4C4F53"/>
                </a:solidFill>
                <a:effectLst/>
                <a:latin typeface="Lato" panose="020F0502020204030204" pitchFamily="34" charset="0"/>
              </a:rPr>
              <a:t>”. Najprostszym przykładem tego problemu jest sprawdzenie czy dany adres email został już użyty podczas rejestracji konta lub login został już użyty przez innego użytkownika.</a:t>
            </a:r>
            <a:endParaRPr lang="en-US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88DBF676-F038-D513-457D-6D2FF16DCA82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4A67009-50BF-ADD3-CA54-E8BE94EA9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13" y="1971744"/>
            <a:ext cx="5327523" cy="349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57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E2F1C-6AB2-77BF-A34A-51E55E1B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4B4D977A-A897-E0BF-95BF-752C11A6F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FA568EE3-1DC2-9AD2-09D1-2D763FEFDE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9929"/>
          <a:stretch/>
        </p:blipFill>
        <p:spPr>
          <a:xfrm>
            <a:off x="-157054" y="-3"/>
            <a:ext cx="12192001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27D1429-69B3-4924-C57B-1B53110FA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3383" y="2626901"/>
            <a:ext cx="573591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200" dirty="0">
                <a:solidFill>
                  <a:srgbClr val="FFFFFF"/>
                </a:solidFill>
              </a:rPr>
              <a:t>ZAAWANSOWANE STRUKTURY DANYCH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1DE0B7C-482B-FD4A-02A1-372E9B68C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3909" y="4271957"/>
            <a:ext cx="5040785" cy="1724029"/>
          </a:xfrm>
        </p:spPr>
        <p:txBody>
          <a:bodyPr anchor="t">
            <a:normAutofit/>
          </a:bodyPr>
          <a:lstStyle/>
          <a:p>
            <a:r>
              <a:rPr lang="pl-PL" sz="2400" dirty="0">
                <a:solidFill>
                  <a:srgbClr val="FFFFFF"/>
                </a:solidFill>
              </a:rPr>
              <a:t>ZALETY</a:t>
            </a: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E747786A-DAD9-6278-01DC-0274F3CC4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61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E7411-1E28-BBDA-C060-A98F2C2C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EE475B2-3DBF-FF34-2097-DCBC56CBA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Zalety</a:t>
            </a: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A9F248C-BB18-C6E7-7784-AC12A261BD1E}"/>
              </a:ext>
            </a:extLst>
          </p:cNvPr>
          <p:cNvSpPr txBox="1"/>
          <p:nvPr/>
        </p:nvSpPr>
        <p:spPr>
          <a:xfrm>
            <a:off x="517870" y="1654309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dirty="0" err="1"/>
              <a:t>Wydajność</a:t>
            </a:r>
            <a:r>
              <a:rPr lang="en-US" b="1" i="1" dirty="0"/>
              <a:t>: </a:t>
            </a:r>
          </a:p>
          <a:p>
            <a:r>
              <a:rPr lang="en-US" dirty="0" err="1"/>
              <a:t>Odpowiednio</a:t>
            </a:r>
            <a:r>
              <a:rPr lang="en-US" dirty="0"/>
              <a:t> </a:t>
            </a:r>
            <a:r>
              <a:rPr lang="en-US" dirty="0" err="1"/>
              <a:t>dobrane</a:t>
            </a:r>
            <a:r>
              <a:rPr lang="en-US" dirty="0"/>
              <a:t> </a:t>
            </a:r>
            <a:r>
              <a:rPr lang="en-US" dirty="0" err="1"/>
              <a:t>struktury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</a:t>
            </a:r>
            <a:r>
              <a:rPr lang="en-US" dirty="0" err="1"/>
              <a:t>optymalizują</a:t>
            </a:r>
            <a:r>
              <a:rPr lang="en-US" dirty="0"/>
              <a:t> </a:t>
            </a:r>
            <a:r>
              <a:rPr lang="en-US" dirty="0" err="1"/>
              <a:t>dostęp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przetwarzanie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, </a:t>
            </a:r>
            <a:r>
              <a:rPr lang="en-US" dirty="0" err="1"/>
              <a:t>czego</a:t>
            </a:r>
            <a:r>
              <a:rPr lang="en-US" dirty="0"/>
              <a:t> </a:t>
            </a:r>
            <a:r>
              <a:rPr lang="en-US" dirty="0" err="1"/>
              <a:t>efektem</a:t>
            </a:r>
            <a:r>
              <a:rPr lang="en-US" dirty="0"/>
              <a:t> jest </a:t>
            </a:r>
            <a:r>
              <a:rPr lang="en-US" dirty="0" err="1"/>
              <a:t>szybsze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wydajniejsze</a:t>
            </a:r>
            <a:r>
              <a:rPr lang="en-US" dirty="0"/>
              <a:t> </a:t>
            </a:r>
            <a:r>
              <a:rPr lang="en-US" dirty="0" err="1"/>
              <a:t>oprogramowanie</a:t>
            </a:r>
            <a:r>
              <a:rPr lang="en-US" dirty="0"/>
              <a:t>. </a:t>
            </a:r>
            <a:r>
              <a:rPr lang="en-US" dirty="0" err="1"/>
              <a:t>Właściwa</a:t>
            </a:r>
            <a:r>
              <a:rPr lang="en-US" dirty="0"/>
              <a:t>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znacznie</a:t>
            </a:r>
            <a:r>
              <a:rPr lang="en-US" dirty="0"/>
              <a:t> </a:t>
            </a:r>
            <a:r>
              <a:rPr lang="en-US" dirty="0" err="1"/>
              <a:t>zmniejszyć</a:t>
            </a:r>
            <a:r>
              <a:rPr lang="en-US" dirty="0"/>
              <a:t> </a:t>
            </a:r>
            <a:r>
              <a:rPr lang="en-US" dirty="0" err="1"/>
              <a:t>złożoność</a:t>
            </a:r>
            <a:r>
              <a:rPr lang="en-US" dirty="0"/>
              <a:t> </a:t>
            </a:r>
            <a:r>
              <a:rPr lang="en-US" dirty="0" err="1"/>
              <a:t>czasową</a:t>
            </a:r>
            <a:r>
              <a:rPr lang="en-US" dirty="0"/>
              <a:t> </a:t>
            </a:r>
            <a:r>
              <a:rPr lang="en-US" dirty="0" err="1"/>
              <a:t>typowych</a:t>
            </a:r>
            <a:r>
              <a:rPr lang="en-US" dirty="0"/>
              <a:t> </a:t>
            </a:r>
            <a:r>
              <a:rPr lang="en-US" dirty="0" err="1"/>
              <a:t>operacji</a:t>
            </a:r>
            <a:r>
              <a:rPr lang="en-US" dirty="0"/>
              <a:t>, </a:t>
            </a:r>
            <a:r>
              <a:rPr lang="en-US" dirty="0" err="1"/>
              <a:t>takich</a:t>
            </a:r>
            <a:r>
              <a:rPr lang="en-US" dirty="0"/>
              <a:t> jak </a:t>
            </a:r>
            <a:r>
              <a:rPr lang="en-US" dirty="0" err="1"/>
              <a:t>wyszukiwanie</a:t>
            </a:r>
            <a:r>
              <a:rPr lang="en-US" dirty="0"/>
              <a:t>, </a:t>
            </a:r>
            <a:r>
              <a:rPr lang="en-US" dirty="0" err="1"/>
              <a:t>wstawianie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usuwanie</a:t>
            </a:r>
            <a:r>
              <a:rPr lang="en-US" dirty="0"/>
              <a:t>.</a:t>
            </a:r>
            <a:br>
              <a:rPr lang="pl-PL" dirty="0"/>
            </a:br>
            <a:br>
              <a:rPr lang="en-US" dirty="0"/>
            </a:br>
            <a:r>
              <a:rPr lang="en-US" i="1" dirty="0"/>
              <a:t>PRZYKŁAD:</a:t>
            </a:r>
            <a:r>
              <a:rPr lang="pl-PL" i="1" dirty="0"/>
              <a:t> </a:t>
            </a:r>
            <a:r>
              <a:rPr lang="en-US" dirty="0"/>
              <a:t>Heap (Kopiec) vs Lista</a:t>
            </a:r>
          </a:p>
          <a:p>
            <a:r>
              <a:rPr lang="en-US" dirty="0"/>
              <a:t>Heap: </a:t>
            </a:r>
            <a:r>
              <a:rPr lang="en-US" dirty="0" err="1"/>
              <a:t>szybkie</a:t>
            </a:r>
            <a:r>
              <a:rPr lang="en-US" dirty="0"/>
              <a:t> </a:t>
            </a:r>
            <a:r>
              <a:rPr lang="en-US" dirty="0" err="1"/>
              <a:t>pobieranie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/minimum O(1), </a:t>
            </a:r>
            <a:r>
              <a:rPr lang="en-US" dirty="0" err="1"/>
              <a:t>wstawianie</a:t>
            </a:r>
            <a:r>
              <a:rPr lang="en-US" dirty="0"/>
              <a:t>/</a:t>
            </a:r>
            <a:r>
              <a:rPr lang="en-US" dirty="0" err="1"/>
              <a:t>usuwanie</a:t>
            </a:r>
            <a:r>
              <a:rPr lang="en-US" dirty="0"/>
              <a:t> O(log n)</a:t>
            </a:r>
          </a:p>
          <a:p>
            <a:r>
              <a:rPr lang="en-US" dirty="0"/>
              <a:t>Lista: </a:t>
            </a:r>
            <a:r>
              <a:rPr lang="en-US" dirty="0" err="1"/>
              <a:t>brak</a:t>
            </a:r>
            <a:r>
              <a:rPr lang="en-US" dirty="0"/>
              <a:t> </a:t>
            </a:r>
            <a:r>
              <a:rPr lang="en-US" dirty="0" err="1"/>
              <a:t>gwarancji</a:t>
            </a:r>
            <a:r>
              <a:rPr lang="en-US" dirty="0"/>
              <a:t> co do </a:t>
            </a:r>
            <a:r>
              <a:rPr lang="en-US" dirty="0" err="1"/>
              <a:t>szybkości</a:t>
            </a:r>
            <a:r>
              <a:rPr lang="en-US" dirty="0"/>
              <a:t> </a:t>
            </a:r>
            <a:r>
              <a:rPr lang="en-US" dirty="0" err="1"/>
              <a:t>pobierania</a:t>
            </a:r>
            <a:r>
              <a:rPr lang="en-US" dirty="0"/>
              <a:t> min/max</a:t>
            </a:r>
            <a:br>
              <a:rPr lang="en-US" dirty="0"/>
            </a:br>
            <a:endParaRPr lang="en-US" dirty="0"/>
          </a:p>
          <a:p>
            <a:pPr lvl="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8" name="Graphic 47" descr="Koła zębate">
            <a:extLst>
              <a:ext uri="{FF2B5EF4-FFF2-40B4-BE49-F238E27FC236}">
                <a16:creationId xmlns:a16="http://schemas.microsoft.com/office/drawing/2014/main" id="{0A7848BF-B3D1-DA71-A285-E6600C368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0555" y="978408"/>
            <a:ext cx="4356461" cy="4356461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E1F77C04-A97C-5928-85E6-55AFB547FE55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32B1125E-167D-01E5-A452-7BD4CB7A3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436" y="5321684"/>
            <a:ext cx="4759564" cy="1356521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841BFC9D-0B80-16BD-CD9B-3C0DD4237273}"/>
              </a:ext>
            </a:extLst>
          </p:cNvPr>
          <p:cNvSpPr txBox="1"/>
          <p:nvPr/>
        </p:nvSpPr>
        <p:spPr>
          <a:xfrm>
            <a:off x="7476390" y="5616667"/>
            <a:ext cx="467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i="1" dirty="0">
                <a:solidFill>
                  <a:schemeClr val="bg1"/>
                </a:solidFill>
              </a:rPr>
              <a:t>Odpowiednia optymalizacja to mniej zużytych zasobów np. energii czy pamięci</a:t>
            </a:r>
            <a:r>
              <a:rPr lang="pl-PL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5457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D27E2-5F4C-798C-F646-E5BD1755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42B85A3-3177-26C6-B721-80A13A4D5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Zalety</a:t>
            </a: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A127D9A-B2F0-2C7F-D7FF-81070073B220}"/>
              </a:ext>
            </a:extLst>
          </p:cNvPr>
          <p:cNvSpPr txBox="1"/>
          <p:nvPr/>
        </p:nvSpPr>
        <p:spPr>
          <a:xfrm>
            <a:off x="517869" y="1709928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1" dirty="0" err="1"/>
              <a:t>Skalowalność</a:t>
            </a:r>
            <a:r>
              <a:rPr lang="en-US" sz="1700" b="1" i="1" dirty="0"/>
              <a:t>:</a:t>
            </a:r>
          </a:p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pl-PL" sz="1700" dirty="0"/>
              <a:t>W</a:t>
            </a:r>
            <a:r>
              <a:rPr lang="en-US" sz="1700" dirty="0"/>
              <a:t> </a:t>
            </a:r>
            <a:r>
              <a:rPr lang="en-US" sz="1700" dirty="0" err="1"/>
              <a:t>miarę</a:t>
            </a:r>
            <a:r>
              <a:rPr lang="en-US" sz="1700" dirty="0"/>
              <a:t> </a:t>
            </a:r>
            <a:r>
              <a:rPr lang="en-US" sz="1700" dirty="0" err="1"/>
              <a:t>rozwoju</a:t>
            </a:r>
            <a:r>
              <a:rPr lang="en-US" sz="1700" dirty="0"/>
              <a:t> </a:t>
            </a:r>
            <a:r>
              <a:rPr lang="en-US" sz="1700" dirty="0" err="1"/>
              <a:t>aplikacji</a:t>
            </a:r>
            <a:r>
              <a:rPr lang="en-US" sz="1700" dirty="0"/>
              <a:t> </a:t>
            </a:r>
            <a:r>
              <a:rPr lang="en-US" sz="1700" dirty="0" err="1"/>
              <a:t>i</a:t>
            </a:r>
            <a:r>
              <a:rPr lang="en-US" sz="1700" dirty="0"/>
              <a:t> </a:t>
            </a:r>
            <a:r>
              <a:rPr lang="en-US" sz="1700" dirty="0" err="1"/>
              <a:t>obsługi</a:t>
            </a:r>
            <a:r>
              <a:rPr lang="en-US" sz="1700" dirty="0"/>
              <a:t> </a:t>
            </a:r>
            <a:r>
              <a:rPr lang="en-US" sz="1700" dirty="0" err="1"/>
              <a:t>większych</a:t>
            </a:r>
            <a:r>
              <a:rPr lang="en-US" sz="1700" dirty="0"/>
              <a:t> </a:t>
            </a:r>
            <a:r>
              <a:rPr lang="en-US" sz="1700" dirty="0" err="1"/>
              <a:t>ilości</a:t>
            </a:r>
            <a:r>
              <a:rPr lang="en-US" sz="1700" dirty="0"/>
              <a:t> </a:t>
            </a:r>
            <a:r>
              <a:rPr lang="en-US" sz="1700" dirty="0" err="1"/>
              <a:t>danych</a:t>
            </a:r>
            <a:r>
              <a:rPr lang="en-US" sz="1700" dirty="0"/>
              <a:t> </a:t>
            </a:r>
            <a:r>
              <a:rPr lang="en-US" sz="1700" dirty="0" err="1"/>
              <a:t>wydajne</a:t>
            </a:r>
            <a:r>
              <a:rPr lang="en-US" sz="1700" dirty="0"/>
              <a:t> </a:t>
            </a:r>
            <a:r>
              <a:rPr lang="en-US" sz="1700" dirty="0" err="1"/>
              <a:t>struktury</a:t>
            </a:r>
            <a:r>
              <a:rPr lang="en-US" sz="1700" dirty="0"/>
              <a:t> </a:t>
            </a:r>
            <a:r>
              <a:rPr lang="en-US" sz="1700" dirty="0" err="1"/>
              <a:t>danych</a:t>
            </a:r>
            <a:r>
              <a:rPr lang="en-US" sz="1700" dirty="0"/>
              <a:t> </a:t>
            </a:r>
            <a:r>
              <a:rPr lang="en-US" sz="1700" dirty="0" err="1"/>
              <a:t>stają</a:t>
            </a:r>
            <a:r>
              <a:rPr lang="en-US" sz="1700" dirty="0"/>
              <a:t> </a:t>
            </a:r>
            <a:r>
              <a:rPr lang="en-US" sz="1700" dirty="0" err="1"/>
              <a:t>się</a:t>
            </a:r>
            <a:r>
              <a:rPr lang="en-US" sz="1700" dirty="0"/>
              <a:t> </a:t>
            </a:r>
            <a:r>
              <a:rPr lang="en-US" sz="1700" dirty="0" err="1"/>
              <a:t>jeszcze</a:t>
            </a:r>
            <a:r>
              <a:rPr lang="en-US" sz="1700" dirty="0"/>
              <a:t> </a:t>
            </a:r>
            <a:r>
              <a:rPr lang="en-US" sz="1700" dirty="0" err="1"/>
              <a:t>ważniejsze</a:t>
            </a:r>
            <a:r>
              <a:rPr lang="en-US" sz="1700" dirty="0"/>
              <a:t>. </a:t>
            </a:r>
            <a:r>
              <a:rPr lang="en-US" sz="1700" dirty="0" err="1"/>
              <a:t>Dobrze</a:t>
            </a:r>
            <a:r>
              <a:rPr lang="en-US" sz="1700" dirty="0"/>
              <a:t> </a:t>
            </a:r>
            <a:r>
              <a:rPr lang="en-US" sz="1700" dirty="0" err="1"/>
              <a:t>zaprojektowana</a:t>
            </a:r>
            <a:r>
              <a:rPr lang="en-US" sz="1700" dirty="0"/>
              <a:t> </a:t>
            </a:r>
            <a:r>
              <a:rPr lang="en-US" sz="1700" dirty="0" err="1"/>
              <a:t>struktura</a:t>
            </a:r>
            <a:r>
              <a:rPr lang="en-US" sz="1700" dirty="0"/>
              <a:t> </a:t>
            </a:r>
            <a:r>
              <a:rPr lang="en-US" sz="1700" dirty="0" err="1"/>
              <a:t>danych</a:t>
            </a:r>
            <a:r>
              <a:rPr lang="en-US" sz="1700" dirty="0"/>
              <a:t> </a:t>
            </a:r>
            <a:r>
              <a:rPr lang="en-US" sz="1700" dirty="0" err="1"/>
              <a:t>może</a:t>
            </a:r>
            <a:r>
              <a:rPr lang="en-US" sz="1700" dirty="0"/>
              <a:t> </a:t>
            </a:r>
            <a:r>
              <a:rPr lang="en-US" sz="1700" dirty="0" err="1"/>
              <a:t>wspierać</a:t>
            </a:r>
            <a:r>
              <a:rPr lang="en-US" sz="1700" dirty="0"/>
              <a:t> </a:t>
            </a:r>
            <a:r>
              <a:rPr lang="en-US" sz="1700" dirty="0" err="1"/>
              <a:t>rozwój</a:t>
            </a:r>
            <a:r>
              <a:rPr lang="en-US" sz="1700" dirty="0"/>
              <a:t> </a:t>
            </a:r>
            <a:r>
              <a:rPr lang="en-US" sz="1700" dirty="0" err="1"/>
              <a:t>aplikacji</a:t>
            </a:r>
            <a:r>
              <a:rPr lang="en-US" sz="1700" dirty="0"/>
              <a:t> bez </a:t>
            </a:r>
            <a:r>
              <a:rPr lang="en-US" sz="1700" dirty="0" err="1"/>
              <a:t>poważnego</a:t>
            </a:r>
            <a:r>
              <a:rPr lang="en-US" sz="1700" dirty="0"/>
              <a:t> </a:t>
            </a:r>
            <a:r>
              <a:rPr lang="en-US" sz="1700" dirty="0" err="1"/>
              <a:t>pogorszenia</a:t>
            </a:r>
            <a:r>
              <a:rPr lang="en-US" sz="1700" dirty="0"/>
              <a:t> </a:t>
            </a:r>
            <a:r>
              <a:rPr lang="en-US" sz="1700" dirty="0" err="1"/>
              <a:t>wydajności</a:t>
            </a:r>
            <a:r>
              <a:rPr lang="en-US" sz="1700" dirty="0"/>
              <a:t>, </a:t>
            </a:r>
            <a:r>
              <a:rPr lang="en-US" sz="1700" dirty="0" err="1"/>
              <a:t>zapewniając</a:t>
            </a:r>
            <a:r>
              <a:rPr lang="en-US" sz="1700" dirty="0"/>
              <a:t>, </a:t>
            </a:r>
            <a:r>
              <a:rPr lang="en-US" sz="1700" dirty="0" err="1"/>
              <a:t>że</a:t>
            </a:r>
            <a:r>
              <a:rPr lang="en-US" sz="1700" dirty="0"/>
              <a:t> </a:t>
            </a:r>
            <a:r>
              <a:rPr lang="en-US" sz="1700" dirty="0" err="1"/>
              <a:t>oprogramowanie</a:t>
            </a:r>
            <a:r>
              <a:rPr lang="en-US" sz="1700" dirty="0"/>
              <a:t> </a:t>
            </a:r>
            <a:r>
              <a:rPr lang="en-US" sz="1700" dirty="0" err="1"/>
              <a:t>pozostanie</a:t>
            </a:r>
            <a:r>
              <a:rPr lang="en-US" sz="1700" dirty="0"/>
              <a:t> </a:t>
            </a:r>
            <a:r>
              <a:rPr lang="en-US" sz="1700" dirty="0" err="1"/>
              <a:t>responsywne</a:t>
            </a:r>
            <a:r>
              <a:rPr lang="en-US" sz="1700" dirty="0"/>
              <a:t> </a:t>
            </a:r>
            <a:r>
              <a:rPr lang="en-US" sz="1700" dirty="0" err="1"/>
              <a:t>i</a:t>
            </a:r>
            <a:r>
              <a:rPr lang="en-US" sz="1700" dirty="0"/>
              <a:t> </a:t>
            </a:r>
            <a:r>
              <a:rPr lang="en-US" sz="1700" dirty="0" err="1"/>
              <a:t>stabilne</a:t>
            </a:r>
            <a:r>
              <a:rPr lang="en-US" sz="1700" dirty="0"/>
              <a:t>.</a:t>
            </a: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PRZYKŁAD: Tree vs List</a:t>
            </a:r>
            <a:br>
              <a:rPr lang="en-US" sz="1700" dirty="0"/>
            </a:br>
            <a:r>
              <a:rPr lang="en-US" sz="1700" dirty="0"/>
              <a:t>Lista- </a:t>
            </a:r>
            <a:r>
              <a:rPr lang="en-US" sz="1700" dirty="0" err="1"/>
              <a:t>dobrze</a:t>
            </a:r>
            <a:r>
              <a:rPr lang="en-US" sz="1700" dirty="0"/>
              <a:t> </a:t>
            </a:r>
            <a:r>
              <a:rPr lang="en-US" sz="1700" dirty="0" err="1"/>
              <a:t>radzi</a:t>
            </a:r>
            <a:r>
              <a:rPr lang="en-US" sz="1700" dirty="0"/>
              <a:t> </a:t>
            </a:r>
            <a:r>
              <a:rPr lang="en-US" sz="1700" dirty="0" err="1"/>
              <a:t>sobie</a:t>
            </a:r>
            <a:r>
              <a:rPr lang="en-US" sz="1700" dirty="0"/>
              <a:t> z </a:t>
            </a:r>
            <a:r>
              <a:rPr lang="en-US" sz="1700" dirty="0" err="1"/>
              <a:t>częstymi</a:t>
            </a:r>
            <a:r>
              <a:rPr lang="en-US" sz="1700" dirty="0"/>
              <a:t> </a:t>
            </a:r>
            <a:r>
              <a:rPr lang="en-US" sz="1700" dirty="0" err="1"/>
              <a:t>modyfikacjami</a:t>
            </a:r>
            <a:r>
              <a:rPr lang="en-US" sz="1700" dirty="0"/>
              <a:t>, ale </a:t>
            </a:r>
            <a:r>
              <a:rPr lang="en-US" sz="1700" dirty="0" err="1"/>
              <a:t>gorzej</a:t>
            </a:r>
            <a:r>
              <a:rPr lang="en-US" sz="1700" dirty="0"/>
              <a:t> z </a:t>
            </a:r>
            <a:r>
              <a:rPr lang="en-US" sz="1700" dirty="0" err="1"/>
              <a:t>wyszukiwaniem</a:t>
            </a:r>
            <a:r>
              <a:rPr lang="en-US" sz="1700" dirty="0"/>
              <a:t> </a:t>
            </a:r>
            <a:r>
              <a:rPr lang="en-US" sz="1700" dirty="0" err="1"/>
              <a:t>przy</a:t>
            </a:r>
            <a:r>
              <a:rPr lang="en-US" sz="1700" dirty="0"/>
              <a:t> </a:t>
            </a:r>
            <a:r>
              <a:rPr lang="en-US" sz="1700" dirty="0" err="1"/>
              <a:t>dużych</a:t>
            </a:r>
            <a:r>
              <a:rPr lang="en-US" sz="1700" dirty="0"/>
              <a:t> </a:t>
            </a:r>
            <a:r>
              <a:rPr lang="en-US" sz="1700" dirty="0" err="1"/>
              <a:t>danych</a:t>
            </a:r>
            <a:r>
              <a:rPr lang="en-US" sz="1700" dirty="0"/>
              <a:t>.</a:t>
            </a:r>
            <a:br>
              <a:rPr lang="en-US" sz="1700" dirty="0"/>
            </a:br>
            <a:r>
              <a:rPr lang="en-US" sz="1700" dirty="0" err="1"/>
              <a:t>Drzewo-Skalowalna</a:t>
            </a:r>
            <a:r>
              <a:rPr lang="en-US" sz="1700" dirty="0"/>
              <a:t> </a:t>
            </a:r>
            <a:r>
              <a:rPr lang="en-US" sz="1700" dirty="0" err="1"/>
              <a:t>i</a:t>
            </a:r>
            <a:r>
              <a:rPr lang="en-US" sz="1700" dirty="0"/>
              <a:t> </a:t>
            </a:r>
            <a:r>
              <a:rPr lang="en-US" sz="1700" dirty="0" err="1"/>
              <a:t>utrzymuje</a:t>
            </a:r>
            <a:r>
              <a:rPr lang="en-US" sz="1700" dirty="0"/>
              <a:t> </a:t>
            </a:r>
            <a:r>
              <a:rPr lang="en-US" sz="1700" dirty="0" err="1"/>
              <a:t>dane</a:t>
            </a:r>
            <a:r>
              <a:rPr lang="en-US" sz="1700" dirty="0"/>
              <a:t> w </a:t>
            </a:r>
            <a:r>
              <a:rPr lang="en-US" sz="1700" dirty="0" err="1"/>
              <a:t>porządku</a:t>
            </a:r>
            <a:r>
              <a:rPr lang="en-US" sz="1700" dirty="0"/>
              <a:t>; </a:t>
            </a:r>
            <a:r>
              <a:rPr lang="en-US" sz="1700" dirty="0" err="1"/>
              <a:t>operacje</a:t>
            </a:r>
            <a:r>
              <a:rPr lang="en-US" sz="1700" dirty="0"/>
              <a:t> </a:t>
            </a:r>
            <a:r>
              <a:rPr lang="en-US" sz="1700" dirty="0" err="1"/>
              <a:t>logarytmiczne</a:t>
            </a:r>
            <a:r>
              <a:rPr lang="en-US" sz="1700" dirty="0"/>
              <a:t> </a:t>
            </a:r>
            <a:r>
              <a:rPr lang="en-US" sz="1700" dirty="0" err="1"/>
              <a:t>nawet</a:t>
            </a:r>
            <a:r>
              <a:rPr lang="en-US" sz="1700" dirty="0"/>
              <a:t> </a:t>
            </a:r>
            <a:r>
              <a:rPr lang="en-US" sz="1700" dirty="0" err="1"/>
              <a:t>przy</a:t>
            </a:r>
            <a:r>
              <a:rPr lang="en-US" sz="1700" dirty="0"/>
              <a:t> </a:t>
            </a:r>
            <a:r>
              <a:rPr lang="en-US" sz="1700" dirty="0" err="1"/>
              <a:t>dużych</a:t>
            </a:r>
            <a:r>
              <a:rPr lang="en-US" sz="1700" dirty="0"/>
              <a:t> </a:t>
            </a:r>
            <a:r>
              <a:rPr lang="en-US" sz="1700" dirty="0" err="1"/>
              <a:t>zbiorach</a:t>
            </a:r>
            <a:r>
              <a:rPr lang="en-US" sz="1700" dirty="0"/>
              <a:t>.</a:t>
            </a:r>
          </a:p>
          <a:p>
            <a:pPr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59" name="Graphic 58" descr="Znacznik wyboru">
            <a:extLst>
              <a:ext uri="{FF2B5EF4-FFF2-40B4-BE49-F238E27FC236}">
                <a16:creationId xmlns:a16="http://schemas.microsoft.com/office/drawing/2014/main" id="{DC0A8917-22E7-EC2C-24E3-FE8CD9DAF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3684" y="508090"/>
            <a:ext cx="4356461" cy="4356461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D0844853-C5DC-3442-5A4D-217B2BE2E2E9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DA439534-B516-C2E4-B361-48937CF4A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436" y="4877091"/>
            <a:ext cx="4759564" cy="150311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E76F766C-7271-894A-C6ED-F9CEB507558A}"/>
              </a:ext>
            </a:extLst>
          </p:cNvPr>
          <p:cNvSpPr txBox="1"/>
          <p:nvPr/>
        </p:nvSpPr>
        <p:spPr>
          <a:xfrm>
            <a:off x="7470067" y="4970613"/>
            <a:ext cx="4937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i="1" dirty="0">
                <a:solidFill>
                  <a:schemeClr val="bg1"/>
                </a:solidFill>
              </a:rPr>
              <a:t>W dużych systemach struktury jak drzewa, link listy, czy grafy pozwalają na szybkie przetwarzanie ogromnych zbiorów danych i dodawanie nowych wartości </a:t>
            </a:r>
          </a:p>
        </p:txBody>
      </p:sp>
    </p:spTree>
    <p:extLst>
      <p:ext uri="{BB962C8B-B14F-4D97-AF65-F5344CB8AC3E}">
        <p14:creationId xmlns:p14="http://schemas.microsoft.com/office/powerpoint/2010/main" val="2735632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1D795-9F70-ABC6-CA8E-7257CB062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8A5375E-F714-2331-AB84-586E4D788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Zalety</a:t>
            </a: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90FE093-E0ED-D127-B7FC-968881D0B5D0}"/>
              </a:ext>
            </a:extLst>
          </p:cNvPr>
          <p:cNvSpPr txBox="1"/>
          <p:nvPr/>
        </p:nvSpPr>
        <p:spPr>
          <a:xfrm>
            <a:off x="517869" y="1628474"/>
            <a:ext cx="6281928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dirty="0" err="1"/>
              <a:t>Projektowanie</a:t>
            </a:r>
            <a:r>
              <a:rPr lang="en-US" b="1" i="1" dirty="0"/>
              <a:t> </a:t>
            </a:r>
            <a:r>
              <a:rPr lang="en-US" b="1" i="1" dirty="0" err="1"/>
              <a:t>algorytmów</a:t>
            </a:r>
            <a:r>
              <a:rPr lang="en-US" b="1" i="1" dirty="0"/>
              <a:t>: </a:t>
            </a:r>
          </a:p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 err="1"/>
              <a:t>Ponieważ</a:t>
            </a:r>
            <a:r>
              <a:rPr lang="en-US" dirty="0"/>
              <a:t> </a:t>
            </a:r>
            <a:r>
              <a:rPr lang="en-US" dirty="0" err="1"/>
              <a:t>większość</a:t>
            </a:r>
            <a:r>
              <a:rPr lang="en-US" dirty="0"/>
              <a:t> </a:t>
            </a:r>
            <a:r>
              <a:rPr lang="en-US" dirty="0" err="1"/>
              <a:t>algorytmów</a:t>
            </a:r>
            <a:r>
              <a:rPr lang="en-US" dirty="0"/>
              <a:t> </a:t>
            </a:r>
            <a:r>
              <a:rPr lang="en-US" dirty="0" err="1"/>
              <a:t>opiera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jednej</a:t>
            </a:r>
            <a:r>
              <a:rPr lang="en-US" dirty="0"/>
              <a:t> </a:t>
            </a:r>
            <a:r>
              <a:rPr lang="en-US" dirty="0" err="1"/>
              <a:t>lub</a:t>
            </a:r>
            <a:r>
              <a:rPr lang="en-US" dirty="0"/>
              <a:t> </a:t>
            </a:r>
            <a:r>
              <a:rPr lang="en-US" dirty="0" err="1"/>
              <a:t>większej</a:t>
            </a:r>
            <a:r>
              <a:rPr lang="en-US" dirty="0"/>
              <a:t> </a:t>
            </a:r>
            <a:r>
              <a:rPr lang="en-US" dirty="0" err="1"/>
              <a:t>liczbie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, ich </a:t>
            </a:r>
            <a:r>
              <a:rPr lang="en-US" dirty="0" err="1"/>
              <a:t>wydajność</a:t>
            </a:r>
            <a:r>
              <a:rPr lang="en-US" dirty="0"/>
              <a:t> w </a:t>
            </a:r>
            <a:r>
              <a:rPr lang="en-US" dirty="0" err="1"/>
              <a:t>dużej</a:t>
            </a:r>
            <a:r>
              <a:rPr lang="en-US" dirty="0"/>
              <a:t> </a:t>
            </a:r>
            <a:r>
              <a:rPr lang="en-US" dirty="0" err="1"/>
              <a:t>mierze</a:t>
            </a:r>
            <a:r>
              <a:rPr lang="en-US" dirty="0"/>
              <a:t> </a:t>
            </a:r>
            <a:r>
              <a:rPr lang="en-US" dirty="0" err="1"/>
              <a:t>zależy</a:t>
            </a:r>
            <a:r>
              <a:rPr lang="en-US" dirty="0"/>
              <a:t> od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leżących</a:t>
            </a:r>
            <a:r>
              <a:rPr lang="en-US" dirty="0"/>
              <a:t> u ich </a:t>
            </a:r>
            <a:r>
              <a:rPr lang="en-US" dirty="0" err="1"/>
              <a:t>podstaw</a:t>
            </a:r>
            <a:r>
              <a:rPr lang="en-US" dirty="0"/>
              <a:t>. </a:t>
            </a:r>
            <a:r>
              <a:rPr lang="en-US" dirty="0" err="1"/>
              <a:t>Właściwa</a:t>
            </a:r>
            <a:r>
              <a:rPr lang="en-US" dirty="0"/>
              <a:t>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</a:t>
            </a:r>
            <a:r>
              <a:rPr lang="en-US" dirty="0" err="1"/>
              <a:t>pozwala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lepszą</a:t>
            </a:r>
            <a:r>
              <a:rPr lang="en-US" dirty="0"/>
              <a:t> </a:t>
            </a:r>
            <a:r>
              <a:rPr lang="en-US" dirty="0" err="1"/>
              <a:t>implementację</a:t>
            </a:r>
            <a:r>
              <a:rPr lang="en-US" dirty="0"/>
              <a:t> </a:t>
            </a:r>
            <a:r>
              <a:rPr lang="en-US" dirty="0" err="1"/>
              <a:t>algorytmu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znacząco</a:t>
            </a:r>
            <a:r>
              <a:rPr lang="en-US" dirty="0"/>
              <a:t> </a:t>
            </a:r>
            <a:r>
              <a:rPr lang="en-US" dirty="0" err="1"/>
              <a:t>wpłynąć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wydajność</a:t>
            </a:r>
            <a:r>
              <a:rPr lang="en-US" dirty="0"/>
              <a:t> </a:t>
            </a:r>
            <a:r>
              <a:rPr lang="en-US" dirty="0" err="1"/>
              <a:t>oprogramowania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PRZYKŁAD :</a:t>
            </a:r>
            <a:r>
              <a:rPr lang="en-US" b="1" i="1" dirty="0"/>
              <a:t> </a:t>
            </a:r>
            <a:r>
              <a:rPr lang="en-US" b="1" dirty="0"/>
              <a:t>Graf (</a:t>
            </a:r>
            <a:r>
              <a:rPr lang="en-US" b="1" dirty="0" err="1"/>
              <a:t>macierz</a:t>
            </a:r>
            <a:r>
              <a:rPr lang="en-US" b="1" dirty="0"/>
              <a:t> </a:t>
            </a:r>
            <a:r>
              <a:rPr lang="en-US" b="1" dirty="0" err="1"/>
              <a:t>sąsiedztwa</a:t>
            </a:r>
            <a:r>
              <a:rPr lang="en-US" b="1" dirty="0"/>
              <a:t> vs </a:t>
            </a:r>
            <a:r>
              <a:rPr lang="en-US" b="1" dirty="0" err="1"/>
              <a:t>lista</a:t>
            </a:r>
            <a:r>
              <a:rPr lang="en-US" b="1" dirty="0"/>
              <a:t> </a:t>
            </a:r>
            <a:r>
              <a:rPr lang="en-US" b="1" dirty="0" err="1"/>
              <a:t>sąsiedztwa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dirty="0" err="1"/>
              <a:t>macierz</a:t>
            </a:r>
            <a:r>
              <a:rPr lang="en-US" dirty="0"/>
              <a:t> </a:t>
            </a:r>
            <a:r>
              <a:rPr lang="en-US" dirty="0" err="1"/>
              <a:t>dla</a:t>
            </a:r>
            <a:r>
              <a:rPr lang="en-US" dirty="0"/>
              <a:t> </a:t>
            </a:r>
            <a:r>
              <a:rPr lang="en-US" dirty="0" err="1"/>
              <a:t>gęstych</a:t>
            </a:r>
            <a:r>
              <a:rPr lang="en-US" dirty="0"/>
              <a:t> </a:t>
            </a:r>
            <a:r>
              <a:rPr lang="en-US" dirty="0" err="1"/>
              <a:t>grafów</a:t>
            </a:r>
            <a:r>
              <a:rPr lang="en-US" dirty="0"/>
              <a:t>,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dla</a:t>
            </a:r>
            <a:r>
              <a:rPr lang="en-US" dirty="0"/>
              <a:t> </a:t>
            </a:r>
            <a:r>
              <a:rPr lang="en-US" dirty="0" err="1"/>
              <a:t>rzadkich</a:t>
            </a:r>
            <a:r>
              <a:rPr lang="en-US" dirty="0"/>
              <a:t> (</a:t>
            </a:r>
            <a:r>
              <a:rPr lang="en-US" dirty="0" err="1"/>
              <a:t>bardziej</a:t>
            </a:r>
            <a:r>
              <a:rPr lang="en-US" dirty="0"/>
              <a:t> </a:t>
            </a:r>
            <a:r>
              <a:rPr lang="en-US" dirty="0" err="1"/>
              <a:t>oszczędna</a:t>
            </a:r>
            <a:r>
              <a:rPr lang="en-US" dirty="0"/>
              <a:t> </a:t>
            </a:r>
            <a:r>
              <a:rPr lang="en-US" dirty="0" err="1"/>
              <a:t>pamięciowo</a:t>
            </a:r>
            <a:r>
              <a:rPr lang="en-US" dirty="0"/>
              <a:t>).</a:t>
            </a:r>
          </a:p>
        </p:txBody>
      </p:sp>
      <p:pic>
        <p:nvPicPr>
          <p:cNvPr id="70" name="Graphic 69" descr="Robot — kontur">
            <a:extLst>
              <a:ext uri="{FF2B5EF4-FFF2-40B4-BE49-F238E27FC236}">
                <a16:creationId xmlns:a16="http://schemas.microsoft.com/office/drawing/2014/main" id="{09D401CB-731A-ABD7-AA6E-18CC689C9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5269" y="263217"/>
            <a:ext cx="4356461" cy="4356461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9BC504C1-30A5-179D-C9F4-8D8EBF228C64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08F976E-8475-5101-BE6E-EF876AE9F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388" y="5169620"/>
            <a:ext cx="4759564" cy="150311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FCAB17D1-552C-00AD-7547-E1F0A2E1234A}"/>
              </a:ext>
            </a:extLst>
          </p:cNvPr>
          <p:cNvSpPr txBox="1"/>
          <p:nvPr/>
        </p:nvSpPr>
        <p:spPr>
          <a:xfrm>
            <a:off x="7603071" y="5395802"/>
            <a:ext cx="4659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i="1" dirty="0">
                <a:solidFill>
                  <a:schemeClr val="bg1"/>
                </a:solidFill>
              </a:rPr>
              <a:t>Tensorowe struktury pozwalają na wydajne przetwarzanie danych w uczeniu maszynowym.</a:t>
            </a:r>
          </a:p>
        </p:txBody>
      </p:sp>
    </p:spTree>
    <p:extLst>
      <p:ext uri="{BB962C8B-B14F-4D97-AF65-F5344CB8AC3E}">
        <p14:creationId xmlns:p14="http://schemas.microsoft.com/office/powerpoint/2010/main" val="285204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A75B7-65CB-645F-D7FE-35D31AC56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C60481AA-5E29-F899-B05E-0730EF7C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FE472A6C-520F-1CDC-FC49-BFE581E080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9929"/>
          <a:stretch/>
        </p:blipFill>
        <p:spPr>
          <a:xfrm>
            <a:off x="-157054" y="-3"/>
            <a:ext cx="12192001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1626025-93E6-66A6-6ACA-5D0224196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3383" y="2626901"/>
            <a:ext cx="573591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200" dirty="0">
                <a:solidFill>
                  <a:srgbClr val="FFFFFF"/>
                </a:solidFill>
              </a:rPr>
              <a:t>ZAAWANSOWANE STRUKTURY DANYCH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19E0FD9-FCBC-A27A-B2D1-F7A05EA99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3909" y="4271957"/>
            <a:ext cx="5040785" cy="1724029"/>
          </a:xfrm>
        </p:spPr>
        <p:txBody>
          <a:bodyPr anchor="t">
            <a:normAutofit/>
          </a:bodyPr>
          <a:lstStyle/>
          <a:p>
            <a:r>
              <a:rPr lang="pl-PL" sz="2400" dirty="0">
                <a:solidFill>
                  <a:srgbClr val="FFFFFF"/>
                </a:solidFill>
              </a:rPr>
              <a:t>PRZYSZŁOŚĆ</a:t>
            </a: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67008FEF-F43A-5644-D02D-C24C802E9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22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3D89F-84A8-9961-E9A1-92BFF76A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FA680995-0520-2CAC-34CD-0531782B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5AF07A59-0F33-AFD3-75E2-B58142EBF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B5B799E-AD03-F562-B064-A716F3E6E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703" y="711696"/>
            <a:ext cx="7624103" cy="14630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l-PL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Współpraca z AI i uczeniem maszynowym</a:t>
            </a:r>
            <a:b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BDC5390-630F-8037-D661-C625A69E3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B684943-38F2-0930-8EEC-C00D3E9310E0}"/>
              </a:ext>
            </a:extLst>
          </p:cNvPr>
          <p:cNvSpPr txBox="1"/>
          <p:nvPr/>
        </p:nvSpPr>
        <p:spPr>
          <a:xfrm>
            <a:off x="517869" y="1628474"/>
            <a:ext cx="7011640" cy="4481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l-PL" b="1" i="1" dirty="0" err="1"/>
              <a:t>Learned</a:t>
            </a:r>
            <a:r>
              <a:rPr lang="pl-PL" b="1" i="1" dirty="0"/>
              <a:t> Index </a:t>
            </a:r>
            <a:r>
              <a:rPr lang="pl-PL" b="1" i="1" dirty="0" err="1"/>
              <a:t>Structures</a:t>
            </a:r>
            <a:r>
              <a:rPr lang="pl-PL" b="1" dirty="0"/>
              <a:t> (uczące się indeksy)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Zamiast klasycznego drzewa (np. B-</a:t>
            </a:r>
            <a:r>
              <a:rPr lang="pl-PL" dirty="0" err="1"/>
              <a:t>Tree</a:t>
            </a:r>
            <a:r>
              <a:rPr lang="pl-PL" dirty="0"/>
              <a:t>), używa się modelu ML (np. regresji), który przewiduje pozycję elementu w posortowanym zbiorze danych.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Taki model zastępuje tradycyjną strukturę i może być znacznie szybszy i bardziej </a:t>
            </a:r>
            <a:r>
              <a:rPr lang="pl-PL" dirty="0" err="1"/>
              <a:t>pamięciooszczędny</a:t>
            </a:r>
            <a:r>
              <a:rPr lang="pl-PL" dirty="0"/>
              <a:t>, szczególnie przy bardzo dużych zbiorach danych.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Używane np. w bazach danych lub systemach wyszukiwania, gdzie dane są statyczne lub rzadko się zmieniają.</a:t>
            </a:r>
            <a:br>
              <a:rPr lang="pl-PL" dirty="0"/>
            </a:br>
            <a:endParaRPr lang="pl-PL" dirty="0"/>
          </a:p>
          <a:p>
            <a:pPr>
              <a:buFont typeface="Arial" panose="020B0604020202020204" pitchFamily="34" charset="0"/>
              <a:buChar char="•"/>
            </a:pPr>
            <a:r>
              <a:rPr lang="pl-PL" b="1" i="1" dirty="0"/>
              <a:t>Tensorowe struktury danych</a:t>
            </a:r>
            <a:endParaRPr lang="pl-PL" b="1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Dane przechowywane w postaci tensorów, co umożliwia bardzo wydajne przetwarzanie macierzowe.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Są fundamentem wielu algorytmów AI, np. w sieciach neuronowych, przetwarzaniu obrazu czy NLP</a:t>
            </a:r>
          </a:p>
          <a:p>
            <a:pPr marL="342900"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C1F554F9-1FBB-05DC-A88D-5B1D619CC1E2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8E7B9CC-3C33-B100-2D4B-AB017639070B}"/>
              </a:ext>
            </a:extLst>
          </p:cNvPr>
          <p:cNvSpPr txBox="1"/>
          <p:nvPr/>
        </p:nvSpPr>
        <p:spPr>
          <a:xfrm>
            <a:off x="7603071" y="5395802"/>
            <a:ext cx="4659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i="1" dirty="0">
                <a:solidFill>
                  <a:schemeClr val="bg1"/>
                </a:solidFill>
              </a:rPr>
              <a:t>Tensorowe struktury pozwalają na wydajne przetwarzanie danych w uczeniu maszynowym.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3724D63-71D5-2329-1CD7-D27B7219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828" y="2375349"/>
            <a:ext cx="4727171" cy="27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54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DA478-8CDB-A847-092A-07EDD912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5C9CA81-1D5A-E721-B0C6-3B03315A3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20D3F0C1-5776-BD78-429B-59083F73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5816551-E429-2387-F2E8-97F0E579D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703" y="711696"/>
            <a:ext cx="8904264" cy="14630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l-PL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Struktury dla Big Data i systemów rozproszonych</a:t>
            </a:r>
            <a:b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4932FDD-6A61-DB81-81E6-DFB783414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490C8E8-7CF0-A0FA-C718-7D3BA05360DB}"/>
              </a:ext>
            </a:extLst>
          </p:cNvPr>
          <p:cNvSpPr txBox="1"/>
          <p:nvPr/>
        </p:nvSpPr>
        <p:spPr>
          <a:xfrm>
            <a:off x="380235" y="1395718"/>
            <a:ext cx="7044278" cy="44896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buNone/>
            </a:pPr>
            <a:r>
              <a:rPr lang="pl-PL" b="1" i="1" dirty="0" err="1"/>
              <a:t>Merkle</a:t>
            </a:r>
            <a:r>
              <a:rPr lang="pl-PL" b="1" i="1" dirty="0"/>
              <a:t> </a:t>
            </a:r>
            <a:r>
              <a:rPr lang="pl-PL" b="1" i="1" dirty="0" err="1"/>
              <a:t>Trees</a:t>
            </a:r>
            <a:endParaRPr lang="pl-PL" b="1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Drzewa haszujące, gdzie każdy węzeł zawiera skrót (</a:t>
            </a:r>
            <a:r>
              <a:rPr lang="pl-PL" dirty="0" err="1"/>
              <a:t>hash</a:t>
            </a:r>
            <a:r>
              <a:rPr lang="pl-PL" dirty="0"/>
              <a:t>) swoich dzieci.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Używane w </a:t>
            </a:r>
            <a:r>
              <a:rPr lang="pl-PL" dirty="0" err="1"/>
              <a:t>blockchainie</a:t>
            </a:r>
            <a:r>
              <a:rPr lang="pl-PL" dirty="0"/>
              <a:t>, systemach kontroli wersji (Git), bazach danych rozproszonych.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Zaleta: umożliwiają szybkie i bezpieczne sprawdzenie integralności danych bez przesyłania całych danych.</a:t>
            </a:r>
            <a:br>
              <a:rPr lang="pl-PL" dirty="0"/>
            </a:br>
            <a:endParaRPr lang="pl-PL" dirty="0"/>
          </a:p>
          <a:p>
            <a:pPr>
              <a:buNone/>
            </a:pPr>
            <a:r>
              <a:rPr lang="pl-PL" b="1" i="1" dirty="0" err="1"/>
              <a:t>HyperLogLog</a:t>
            </a:r>
            <a:endParaRPr lang="pl-PL" b="1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Struktura probabilistyczna do szacowania liczby unikalnych elementów (np. liczba różnych użytkowników).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Zużywa bardzo mało pamięci (kilka kilobajtów), nawet przy miliardach danych.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Wady: działa szacunkowo, ale z wysoką dokładnością.</a:t>
            </a:r>
            <a:br>
              <a:rPr lang="pl-PL" dirty="0"/>
            </a:br>
            <a:endParaRPr lang="pl-PL" dirty="0"/>
          </a:p>
          <a:p>
            <a:pPr>
              <a:buNone/>
            </a:pPr>
            <a:r>
              <a:rPr lang="pl-PL" b="1" i="1" dirty="0" err="1"/>
              <a:t>Count</a:t>
            </a:r>
            <a:r>
              <a:rPr lang="pl-PL" b="1" i="1" dirty="0"/>
              <a:t>-Min </a:t>
            </a:r>
            <a:r>
              <a:rPr lang="pl-PL" b="1" i="1" dirty="0" err="1"/>
              <a:t>Sketch</a:t>
            </a:r>
            <a:endParaRPr lang="pl-PL" b="1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Struktura służąca do oszacowania liczby wystąpień elementu w dużym strumieniu danych.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Jest szybka, prosta i zajmuje mało pamięci – popularna w analityce czasu rzeczywistego (np. liczba kliknięć, częstotliwość słów).</a:t>
            </a:r>
          </a:p>
          <a:p>
            <a:br>
              <a:rPr lang="pl-PL" dirty="0"/>
            </a:br>
            <a:endParaRPr lang="pl-PL" dirty="0"/>
          </a:p>
          <a:p>
            <a:endParaRPr lang="pl-PL" dirty="0"/>
          </a:p>
          <a:p>
            <a:pPr marL="342900"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odtytuł 2">
            <a:extLst>
              <a:ext uri="{FF2B5EF4-FFF2-40B4-BE49-F238E27FC236}">
                <a16:creationId xmlns:a16="http://schemas.microsoft.com/office/drawing/2014/main" id="{CAE1F488-5730-CFC7-BF3F-E985F9326CAA}"/>
              </a:ext>
            </a:extLst>
          </p:cNvPr>
          <p:cNvSpPr txBox="1">
            <a:spLocks/>
          </p:cNvSpPr>
          <p:nvPr/>
        </p:nvSpPr>
        <p:spPr>
          <a:xfrm>
            <a:off x="670270" y="2147185"/>
            <a:ext cx="11186746" cy="400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pl-PL" dirty="0"/>
            </a:br>
            <a:r>
              <a:rPr lang="pl-PL" dirty="0"/>
              <a:t> 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B496BF6-DCED-7F3F-A5EF-E24415C24008}"/>
              </a:ext>
            </a:extLst>
          </p:cNvPr>
          <p:cNvSpPr txBox="1"/>
          <p:nvPr/>
        </p:nvSpPr>
        <p:spPr>
          <a:xfrm>
            <a:off x="7603071" y="5395802"/>
            <a:ext cx="4659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i="1" dirty="0">
                <a:solidFill>
                  <a:schemeClr val="bg1"/>
                </a:solidFill>
              </a:rPr>
              <a:t>Tensorowe struktury pozwalają na wydajne przetwarzanie danych w uczeniu maszynowym.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2B08AC5-B86A-025C-503C-B45CFD700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5" y="1882085"/>
            <a:ext cx="4693925" cy="32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69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7DBD2-F099-B60F-D1F4-A6BC505E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6637E03-1FA3-213A-DB8B-B3BA275CB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DB51AEB-9B2E-2973-E62F-7F6D415E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F27320-4FC1-969D-835F-6796C20B6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703" y="711696"/>
            <a:ext cx="8904264" cy="14630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l-PL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Struktury przyjazne dla prywatności i bezpieczeństwa</a:t>
            </a:r>
            <a:b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6694B0A-FAF2-B06F-9EFD-B903464AF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4C7C680-54DB-A5CA-FD3F-41B233D025A3}"/>
              </a:ext>
            </a:extLst>
          </p:cNvPr>
          <p:cNvSpPr txBox="1"/>
          <p:nvPr/>
        </p:nvSpPr>
        <p:spPr>
          <a:xfrm>
            <a:off x="517868" y="1628474"/>
            <a:ext cx="10713029" cy="4481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br>
              <a:rPr lang="pl-PL" dirty="0"/>
            </a:br>
            <a:endParaRPr lang="pl-PL" dirty="0"/>
          </a:p>
          <a:p>
            <a:endParaRPr lang="pl-PL" dirty="0"/>
          </a:p>
          <a:p>
            <a:pPr marL="342900" lvl="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EF01D25-11A5-0F16-82BF-04F9DEE1AB0A}"/>
              </a:ext>
            </a:extLst>
          </p:cNvPr>
          <p:cNvSpPr txBox="1"/>
          <p:nvPr/>
        </p:nvSpPr>
        <p:spPr>
          <a:xfrm>
            <a:off x="7603071" y="5395802"/>
            <a:ext cx="4659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i="1" dirty="0">
                <a:solidFill>
                  <a:schemeClr val="bg1"/>
                </a:solidFill>
              </a:rPr>
              <a:t>Tensorowe struktury pozwalają na wydajne przetwarzanie danych w uczeniu maszynowym.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C87C8BD-9D07-CE2E-BED8-80D79B33B34E}"/>
              </a:ext>
            </a:extLst>
          </p:cNvPr>
          <p:cNvSpPr txBox="1"/>
          <p:nvPr/>
        </p:nvSpPr>
        <p:spPr>
          <a:xfrm>
            <a:off x="566703" y="1390996"/>
            <a:ext cx="77183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l-PL" b="1" i="1" dirty="0"/>
              <a:t>Homomorficzne struktury danych</a:t>
            </a:r>
            <a:endParaRPr lang="pl-PL" b="1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Dane są przechowywane w postaci zaszyfrowanej, ale można na nich wykonywać operacje (np. sumowanie), bez odszyfrowywania.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Pozwala to na przetwarzanie danych w chmurze bez naruszania prywatności.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Wykorzystywane np. w medycynie, finansach i AI (trening modeli na danych wrażliwych).</a:t>
            </a:r>
            <a:br>
              <a:rPr lang="pl-PL" dirty="0"/>
            </a:br>
            <a:endParaRPr lang="pl-PL" dirty="0"/>
          </a:p>
          <a:p>
            <a:pPr>
              <a:buNone/>
            </a:pPr>
            <a:r>
              <a:rPr lang="pl-PL" b="1" dirty="0"/>
              <a:t> </a:t>
            </a:r>
            <a:r>
              <a:rPr lang="pl-PL" b="1" i="1" dirty="0" err="1"/>
              <a:t>Oblivious</a:t>
            </a:r>
            <a:r>
              <a:rPr lang="pl-PL" b="1" i="1" dirty="0"/>
              <a:t> Data </a:t>
            </a:r>
            <a:r>
              <a:rPr lang="pl-PL" b="1" i="1" dirty="0" err="1"/>
              <a:t>Structures</a:t>
            </a:r>
            <a:endParaRPr lang="pl-PL" b="1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Struktury, które ukrywają wzorce dostępu do danych (czyli nawet nie wiadomo, które elementy były używane).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Wykorzystywane w systemach, które wymagają pełnej poufności operacji – np. w tzw. </a:t>
            </a:r>
            <a:r>
              <a:rPr lang="pl-PL" dirty="0" err="1"/>
              <a:t>secure</a:t>
            </a:r>
            <a:r>
              <a:rPr lang="pl-PL" dirty="0"/>
              <a:t> </a:t>
            </a:r>
            <a:r>
              <a:rPr lang="pl-PL" dirty="0" err="1"/>
              <a:t>enclaves</a:t>
            </a:r>
            <a:r>
              <a:rPr lang="pl-PL" dirty="0"/>
              <a:t> (Intel SGX, AMD SEV).</a:t>
            </a:r>
            <a:br>
              <a:rPr lang="pl-PL" dirty="0"/>
            </a:br>
            <a:endParaRPr lang="pl-PL" dirty="0"/>
          </a:p>
          <a:p>
            <a:pPr>
              <a:buNone/>
            </a:pPr>
            <a:r>
              <a:rPr lang="pl-PL" b="1" dirty="0"/>
              <a:t> </a:t>
            </a:r>
            <a:r>
              <a:rPr lang="pl-PL" b="1" i="1" dirty="0" err="1"/>
              <a:t>Private</a:t>
            </a:r>
            <a:r>
              <a:rPr lang="pl-PL" b="1" i="1" dirty="0"/>
              <a:t> Information </a:t>
            </a:r>
            <a:r>
              <a:rPr lang="pl-PL" b="1" i="1" dirty="0" err="1"/>
              <a:t>Retrieval</a:t>
            </a:r>
            <a:r>
              <a:rPr lang="pl-PL" b="1" i="1" dirty="0"/>
              <a:t> (PIR) </a:t>
            </a:r>
            <a:r>
              <a:rPr lang="pl-PL" b="1" i="1" dirty="0" err="1"/>
              <a:t>Trees</a:t>
            </a:r>
            <a:endParaRPr lang="pl-PL" b="1" dirty="0"/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Pozwalają użytkownikowi zapytać o dane w bazie w taki sposób, że serwer nie wie, czego dotyczyło zapytanie.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Ciekawy kierunek rozwoju w kontekście ochrony danych osobowych (np. RODO).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6A8257F-2004-4F57-F0BF-66C079680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416" y="1831242"/>
            <a:ext cx="4042536" cy="411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06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31424-9FA0-D6EA-0C58-6600C7CF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5CAFE8C3-33E6-AB15-30F7-F26C823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242CDF2E-9B23-46C1-9A11-37FDB31B0B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9929"/>
          <a:stretch/>
        </p:blipFill>
        <p:spPr>
          <a:xfrm>
            <a:off x="-157054" y="-3"/>
            <a:ext cx="12192001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24B6C476-47A9-E6E1-3A58-92FA1347C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299" y="726059"/>
            <a:ext cx="5735912" cy="164029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200" dirty="0">
                <a:solidFill>
                  <a:srgbClr val="FFFFFF"/>
                </a:solidFill>
              </a:rPr>
              <a:t>KONIEC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63F2C3-2483-6C19-9EA1-E3A579CC6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5636" y="642328"/>
            <a:ext cx="4156364" cy="1724029"/>
          </a:xfrm>
        </p:spPr>
        <p:txBody>
          <a:bodyPr anchor="t">
            <a:normAutofit/>
          </a:bodyPr>
          <a:lstStyle/>
          <a:p>
            <a:r>
              <a:rPr lang="pl-PL" sz="2400" dirty="0">
                <a:solidFill>
                  <a:srgbClr val="FFFFFF"/>
                </a:solidFill>
              </a:rPr>
              <a:t>PRZYGOTOWALI:</a:t>
            </a:r>
            <a:br>
              <a:rPr lang="pl-PL" sz="24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MATEUSZ ALEKSANDER</a:t>
            </a:r>
            <a:br>
              <a:rPr lang="pl-PL" sz="2400" dirty="0">
                <a:solidFill>
                  <a:srgbClr val="FFFFFF"/>
                </a:solidFill>
              </a:rPr>
            </a:br>
            <a:r>
              <a:rPr lang="pl-PL" sz="2400" dirty="0">
                <a:solidFill>
                  <a:srgbClr val="FFFFFF"/>
                </a:solidFill>
              </a:rPr>
              <a:t>MATEUSZ BASTA</a:t>
            </a: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60AD2DD6-2D1E-63D2-FE49-9A3942FD7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927A294-2C44-72DD-774C-AC1FA85EEDE0}"/>
              </a:ext>
            </a:extLst>
          </p:cNvPr>
          <p:cNvSpPr txBox="1"/>
          <p:nvPr/>
        </p:nvSpPr>
        <p:spPr>
          <a:xfrm>
            <a:off x="175455" y="4777048"/>
            <a:ext cx="115269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Bilbografia</a:t>
            </a:r>
            <a:r>
              <a:rPr lang="pl-PL" dirty="0"/>
              <a:t>:</a:t>
            </a:r>
            <a:br>
              <a:rPr lang="pl-PL" dirty="0"/>
            </a:br>
            <a:r>
              <a:rPr lang="pl-PL" dirty="0">
                <a:hlinkClick r:id="rId3"/>
              </a:rPr>
              <a:t>https://learnwithmayank.hashnode.dev/history-and-evolution-of-data-structures</a:t>
            </a:r>
            <a:br>
              <a:rPr lang="pl-PL" dirty="0"/>
            </a:br>
            <a:r>
              <a:rPr lang="pl-PL" dirty="0"/>
              <a:t>https://devstockacademy.pl/blog/programowanie-i-technologie-webowe/algorytmy-i-struktury-danych-kompletny-przewodnik/</a:t>
            </a:r>
            <a:br>
              <a:rPr lang="pl-PL" dirty="0"/>
            </a:br>
            <a:r>
              <a:rPr lang="pl-PL" dirty="0">
                <a:hlinkClick r:id="rId4"/>
              </a:rPr>
              <a:t>https://appmaster.io/pl/blog/jakie-sa-definicje-i-typy-struktur-danych</a:t>
            </a:r>
            <a:br>
              <a:rPr lang="pl-PL" dirty="0"/>
            </a:br>
            <a:r>
              <a:rPr lang="pl-PL" dirty="0">
                <a:hlinkClick r:id="rId5"/>
              </a:rPr>
              <a:t>https://pl.wikipedia.org/wiki/Struktura_danych</a:t>
            </a:r>
            <a:br>
              <a:rPr lang="pl-PL" dirty="0"/>
            </a:b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94329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A2982DBD1F2346A15B462A645E4634" ma:contentTypeVersion="5" ma:contentTypeDescription="Utwórz nowy dokument." ma:contentTypeScope="" ma:versionID="a834ecb434180ef2d063cdac475e8c9b">
  <xsd:schema xmlns:xsd="http://www.w3.org/2001/XMLSchema" xmlns:xs="http://www.w3.org/2001/XMLSchema" xmlns:p="http://schemas.microsoft.com/office/2006/metadata/properties" xmlns:ns3="402a055e-ee54-4ceb-a95e-31771e79ee7b" targetNamespace="http://schemas.microsoft.com/office/2006/metadata/properties" ma:root="true" ma:fieldsID="9ac0b02041dc21fa0208e9d67711f55e" ns3:_="">
    <xsd:import namespace="402a055e-ee54-4ceb-a95e-31771e79ee7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a055e-ee54-4ceb-a95e-31771e79ee7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2a055e-ee54-4ceb-a95e-31771e79ee7b" xsi:nil="true"/>
  </documentManagement>
</p:properties>
</file>

<file path=customXml/itemProps1.xml><?xml version="1.0" encoding="utf-8"?>
<ds:datastoreItem xmlns:ds="http://schemas.openxmlformats.org/officeDocument/2006/customXml" ds:itemID="{72017743-F742-46F7-8EF1-E2AE8541EA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2a055e-ee54-4ceb-a95e-31771e79ee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9A3C57-4DDD-4D74-A891-D9E206FA9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6FCE0C-B377-4EE7-8114-45652D1ADEC1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402a055e-ee54-4ceb-a95e-31771e79ee7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4257</TotalTime>
  <Words>1611</Words>
  <Application>Microsoft Office PowerPoint</Application>
  <PresentationFormat>Panoramiczny</PresentationFormat>
  <Paragraphs>124</Paragraphs>
  <Slides>31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31</vt:i4>
      </vt:variant>
    </vt:vector>
  </HeadingPairs>
  <TitlesOfParts>
    <vt:vector size="38" baseType="lpstr">
      <vt:lpstr>Aptos</vt:lpstr>
      <vt:lpstr>Arial</vt:lpstr>
      <vt:lpstr>Bierstadt</vt:lpstr>
      <vt:lpstr>Lato</vt:lpstr>
      <vt:lpstr>Roboto</vt:lpstr>
      <vt:lpstr>Verdana</vt:lpstr>
      <vt:lpstr>GestaltVTI</vt:lpstr>
      <vt:lpstr>ZAAWANSOWANE STRUKTURY DANCYH</vt:lpstr>
      <vt:lpstr>HISTORIA</vt:lpstr>
      <vt:lpstr>Historia</vt:lpstr>
      <vt:lpstr>Historia</vt:lpstr>
      <vt:lpstr>RODZAJE STRUKTUR DANYCH</vt:lpstr>
      <vt:lpstr>Rodzaje struktur danych</vt:lpstr>
      <vt:lpstr>Prezentacja programu PowerPoint</vt:lpstr>
      <vt:lpstr>Rodzaje struktur danych</vt:lpstr>
      <vt:lpstr>Prezentacja programu PowerPoint</vt:lpstr>
      <vt:lpstr>Rodzaje struktur danych</vt:lpstr>
      <vt:lpstr>Prezentacja programu PowerPoint</vt:lpstr>
      <vt:lpstr>Rodzaje struktur danych</vt:lpstr>
      <vt:lpstr>Rodzaje struktur danych</vt:lpstr>
      <vt:lpstr>Rodzaje struktur danych</vt:lpstr>
      <vt:lpstr>Rodzaje struktur danych</vt:lpstr>
      <vt:lpstr>Prezentacja programu PowerPoint</vt:lpstr>
      <vt:lpstr>Rodzaje struktur danych</vt:lpstr>
      <vt:lpstr>Rodzaje struktur danych</vt:lpstr>
      <vt:lpstr>Rodzaje struktur danych</vt:lpstr>
      <vt:lpstr>Rodzaje struktur danych</vt:lpstr>
      <vt:lpstr>Prezentacja programu PowerPoint</vt:lpstr>
      <vt:lpstr>Rodzaje struktur danych</vt:lpstr>
      <vt:lpstr>ZAAWANSOWANE STRUKTURY DANYCH</vt:lpstr>
      <vt:lpstr>Zalety  </vt:lpstr>
      <vt:lpstr>Zalety  </vt:lpstr>
      <vt:lpstr>Zalety  </vt:lpstr>
      <vt:lpstr>ZAAWANSOWANE STRUKTURY DANYCH</vt:lpstr>
      <vt:lpstr>Współpraca z AI i uczeniem maszynowym  </vt:lpstr>
      <vt:lpstr>Struktury dla Big Data i systemów rozproszonych  </vt:lpstr>
      <vt:lpstr>Struktury przyjazne dla prywatności i bezpieczeństwa  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basta</dc:creator>
  <cp:lastModifiedBy>mateusz basta</cp:lastModifiedBy>
  <cp:revision>4</cp:revision>
  <dcterms:created xsi:type="dcterms:W3CDTF">2025-05-12T11:59:35Z</dcterms:created>
  <dcterms:modified xsi:type="dcterms:W3CDTF">2025-05-15T11:34:08Z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0x0101000EA2982DBD1F2346A15B462A645E4634</vt:lpwstr>
  </property>
</Properties>
</file>